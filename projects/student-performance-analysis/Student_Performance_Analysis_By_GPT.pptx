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1" r:id="rId19"/>
    <p:sldId id="274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25"/>
  </p:normalViewPr>
  <p:slideViewPr>
    <p:cSldViewPr snapToGrid="0" snapToObjects="1">
      <p:cViewPr varScale="1">
        <p:scale>
          <a:sx n="113" d="100"/>
          <a:sy n="113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Student Performance Analysis</a:t>
            </a:r>
            <a:r>
              <a:rPr lang="en-US" dirty="0"/>
              <a:t> Using ChatGPT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Exploring Patterns, Disparities, and Predictions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0C67-5CD5-4408-813E-A2BDBA0A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B0414-26FF-7D79-763E-4B3110F0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This presentation compares two analyses of a student performance dataset covering exam scores in </a:t>
            </a:r>
            <a:r>
              <a:rPr lang="en-US" sz="1400" b="1" dirty="0"/>
              <a:t>math</a:t>
            </a:r>
            <a:r>
              <a:rPr lang="en-US" sz="1400" dirty="0"/>
              <a:t>, </a:t>
            </a:r>
            <a:r>
              <a:rPr lang="en-US" sz="1400" b="1" dirty="0"/>
              <a:t>reading</a:t>
            </a:r>
            <a:r>
              <a:rPr lang="en-US" sz="1400" dirty="0"/>
              <a:t>, and </a:t>
            </a:r>
            <a:r>
              <a:rPr lang="en-US" sz="1400" b="1" dirty="0"/>
              <a:t>writing</a:t>
            </a:r>
            <a:r>
              <a:rPr lang="en-US" sz="1400" dirty="0"/>
              <a:t>, along with </a:t>
            </a:r>
            <a:r>
              <a:rPr lang="en-US" sz="1400" b="1" dirty="0"/>
              <a:t>demographic and socioeconomic factors</a:t>
            </a:r>
            <a:r>
              <a:rPr lang="en-US" sz="1400" dirty="0"/>
              <a:t>.</a:t>
            </a:r>
          </a:p>
          <a:p>
            <a:r>
              <a:rPr lang="en-US" sz="1400" b="1" dirty="0"/>
              <a:t>Approach 1</a:t>
            </a:r>
            <a:r>
              <a:rPr lang="en-US" sz="1400" dirty="0"/>
              <a:t>: Conducted using </a:t>
            </a:r>
            <a:r>
              <a:rPr lang="en-US" sz="1400" b="1" dirty="0"/>
              <a:t>Excel</a:t>
            </a:r>
            <a:r>
              <a:rPr lang="en-US" sz="1400" dirty="0"/>
              <a:t> – focused on group averages, correlation, and hypothesis testing (e.g., T.TEST, ANOVA).</a:t>
            </a:r>
          </a:p>
          <a:p>
            <a:r>
              <a:rPr lang="en-US" sz="1400" b="1" dirty="0"/>
              <a:t>Approach 2</a:t>
            </a:r>
            <a:r>
              <a:rPr lang="en-US" sz="1400" dirty="0"/>
              <a:t>: Conducted using </a:t>
            </a:r>
            <a:r>
              <a:rPr lang="en-US" sz="1400" b="1" dirty="0"/>
              <a:t>Python &amp; GPT</a:t>
            </a:r>
            <a:r>
              <a:rPr lang="en-US" sz="1400" dirty="0"/>
              <a:t> – included advanced visualizations, machine learning models, equity simulations, and outlier detection.</a:t>
            </a:r>
          </a:p>
          <a:p>
            <a:r>
              <a:rPr lang="en-US" sz="1400" dirty="0"/>
              <a:t>The goal is to highlight strengths, identify areas for improvement, and draw actionable insights from each method.</a:t>
            </a:r>
          </a:p>
          <a:p>
            <a:r>
              <a:rPr lang="en-US" sz="1400" dirty="0"/>
              <a:t>This comparison aims to </a:t>
            </a:r>
            <a:r>
              <a:rPr lang="en-US" sz="1400" b="1" dirty="0"/>
              <a:t>enhance analytical rigor</a:t>
            </a:r>
            <a:r>
              <a:rPr lang="en-US" sz="1400" dirty="0"/>
              <a:t> and inform </a:t>
            </a:r>
            <a:r>
              <a:rPr lang="en-US" sz="1400" b="1" dirty="0"/>
              <a:t>future data-driven decisions</a:t>
            </a:r>
            <a:r>
              <a:rPr lang="en-US" sz="1400" dirty="0"/>
              <a:t> in education.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37208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Methodology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pPr marL="0" indent="0">
              <a:buNone/>
            </a:pPr>
            <a:r>
              <a:rPr sz="1400" dirty="0"/>
              <a:t>• Data cleaning: checked for missing values and duplicates.</a:t>
            </a:r>
          </a:p>
          <a:p>
            <a:pPr marL="0" indent="0">
              <a:buNone/>
            </a:pPr>
            <a:r>
              <a:rPr sz="1400" dirty="0"/>
              <a:t>• Renamed columns and encoded categorical variables.</a:t>
            </a:r>
          </a:p>
          <a:p>
            <a:pPr marL="0" indent="0">
              <a:buNone/>
            </a:pPr>
            <a:r>
              <a:rPr sz="1400" dirty="0"/>
              <a:t>• Performed descriptive and visual analysis of scores.</a:t>
            </a:r>
          </a:p>
          <a:p>
            <a:pPr marL="0" indent="0">
              <a:buNone/>
            </a:pPr>
            <a:r>
              <a:rPr sz="1400" dirty="0"/>
              <a:t>• Used regression and simulation to assess disparities.</a:t>
            </a:r>
          </a:p>
          <a:p>
            <a:pPr marL="0" indent="0">
              <a:buNone/>
            </a:pPr>
            <a:r>
              <a:rPr sz="1400" dirty="0"/>
              <a:t>• Built models to predict performance from key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Distribution of Writing Scores</a:t>
            </a:r>
          </a:p>
        </p:txBody>
      </p:sp>
      <p:pic>
        <p:nvPicPr>
          <p:cNvPr id="3" name="Picture 2" descr="wri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56" y="1334347"/>
            <a:ext cx="67619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Correlation Between Math, Reading, and Writing Scores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910" y="1785902"/>
            <a:ext cx="4836180" cy="42310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Average Scores by Gender</a:t>
            </a:r>
          </a:p>
        </p:txBody>
      </p:sp>
      <p:pic>
        <p:nvPicPr>
          <p:cNvPr id="3" name="Picture 2" descr="avg_scores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534" y="1417638"/>
            <a:ext cx="592631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Average Scores by Lunch Type</a:t>
            </a:r>
          </a:p>
        </p:txBody>
      </p:sp>
      <p:pic>
        <p:nvPicPr>
          <p:cNvPr id="3" name="Picture 2" descr="avg_scores_l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689" y="1548835"/>
            <a:ext cx="592631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Average Scores by Test Preparation Course</a:t>
            </a:r>
          </a:p>
        </p:txBody>
      </p:sp>
      <p:pic>
        <p:nvPicPr>
          <p:cNvPr id="3" name="Picture 2" descr="avg_scores_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421" y="1571413"/>
            <a:ext cx="5733158" cy="4422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Average Scores by Parental Level of Education</a:t>
            </a:r>
          </a:p>
        </p:txBody>
      </p:sp>
      <p:pic>
        <p:nvPicPr>
          <p:cNvPr id="3" name="Picture 2" descr="avg_scores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248" y="1797191"/>
            <a:ext cx="5131503" cy="38020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Modeling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pPr marL="0" indent="0">
              <a:buNone/>
            </a:pPr>
            <a:r>
              <a:rPr sz="1400" dirty="0"/>
              <a:t>• Reading score is the strongest predictor of writing performance.</a:t>
            </a:r>
          </a:p>
          <a:p>
            <a:pPr marL="0" indent="0">
              <a:buNone/>
            </a:pPr>
            <a:r>
              <a:rPr sz="1400" dirty="0"/>
              <a:t>• Use combined academic features (e.g., math + reading) for total score prediction.</a:t>
            </a:r>
          </a:p>
          <a:p>
            <a:pPr marL="0" indent="0">
              <a:buNone/>
            </a:pPr>
            <a:r>
              <a:rPr sz="1400" dirty="0"/>
              <a:t>• Demographics alone are insufficient for accurate prediction.</a:t>
            </a:r>
          </a:p>
          <a:p>
            <a:pPr marL="0" indent="0">
              <a:buNone/>
            </a:pPr>
            <a:r>
              <a:rPr sz="1400" dirty="0"/>
              <a:t>• Random Forest outperforms Linear Regression in most use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Prompts for Further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r>
              <a:rPr sz="1400" dirty="0"/>
              <a:t>Which student groups show the widest score variation?</a:t>
            </a:r>
          </a:p>
          <a:p>
            <a:r>
              <a:rPr sz="1400" dirty="0"/>
              <a:t>How does performance correlate with multiple demographic factors?</a:t>
            </a:r>
            <a:endParaRPr lang="en-US" sz="1400" dirty="0"/>
          </a:p>
          <a:p>
            <a:r>
              <a:rPr lang="en-US" sz="1400" dirty="0"/>
              <a:t>Can we cluster students into performance tiers?</a:t>
            </a:r>
          </a:p>
          <a:p>
            <a:r>
              <a:rPr lang="en-US" sz="1400" dirty="0"/>
              <a:t>What interventions are most effective for low performers?</a:t>
            </a:r>
          </a:p>
          <a:p>
            <a:r>
              <a:rPr sz="1400" dirty="0"/>
              <a:t>Can we predict future outcomes based on current data?</a:t>
            </a:r>
            <a:endParaRPr lang="en-US" sz="1400" dirty="0"/>
          </a:p>
          <a:p>
            <a:r>
              <a:rPr lang="en-US" sz="1400" dirty="0"/>
              <a:t>Build a dashboard showing real-time group performance by SES, gender, and education.</a:t>
            </a:r>
          </a:p>
          <a:p>
            <a:r>
              <a:rPr lang="en-US" sz="1400" dirty="0"/>
              <a:t>Which single factor explains the most variance in total scores?</a:t>
            </a:r>
          </a:p>
          <a:p>
            <a:r>
              <a:rPr lang="en-US" sz="1400" dirty="0"/>
              <a:t>Cluster students into low, medium, and high performers. What traits define each group?</a:t>
            </a:r>
          </a:p>
          <a:p>
            <a:r>
              <a:rPr lang="en-US" sz="1400" dirty="0"/>
              <a:t>Simulate removing only one disparity (e.g., lunch) — how much does that improve outcomes?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Key 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pPr marL="0" indent="0">
              <a:buNone/>
            </a:pPr>
            <a:r>
              <a:rPr sz="1400" dirty="0"/>
              <a:t>• Reading and writing scores are highly correlated (r = 0.95).</a:t>
            </a:r>
          </a:p>
          <a:p>
            <a:pPr marL="0" indent="0">
              <a:buNone/>
            </a:pPr>
            <a:r>
              <a:rPr sz="1400" dirty="0"/>
              <a:t>• Gender gap: males outperform in math; females excel in reading and writing.</a:t>
            </a:r>
          </a:p>
          <a:p>
            <a:pPr marL="0" indent="0">
              <a:buNone/>
            </a:pPr>
            <a:r>
              <a:rPr sz="1400" dirty="0"/>
              <a:t>• Standard lunch and completed test preparation strongly boost scores.</a:t>
            </a:r>
          </a:p>
          <a:p>
            <a:pPr marL="0" indent="0">
              <a:buNone/>
            </a:pPr>
            <a:r>
              <a:rPr sz="1400" dirty="0"/>
              <a:t>• Parental education is positively associated with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000" dirty="0"/>
              <a:t>Writing Score Prediction (Random Forest)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pPr marL="0" indent="0">
              <a:buNone/>
            </a:pPr>
            <a:r>
              <a:rPr sz="1400" dirty="0"/>
              <a:t>• R² Score: 0.91 | RMSE: ~4.54</a:t>
            </a:r>
          </a:p>
          <a:p>
            <a:pPr marL="0" indent="0">
              <a:buNone/>
            </a:pPr>
            <a:r>
              <a:rPr sz="1400" dirty="0"/>
              <a:t>• Reading score: 92.6% of predictive power</a:t>
            </a:r>
          </a:p>
          <a:p>
            <a:pPr marL="0" indent="0">
              <a:buNone/>
            </a:pPr>
            <a:r>
              <a:rPr sz="1400" dirty="0"/>
              <a:t>• Math score: 2.9% | Other features: &lt;2% each</a:t>
            </a:r>
          </a:p>
          <a:p>
            <a:pPr marL="0" indent="0">
              <a:buNone/>
            </a:pPr>
            <a:r>
              <a:rPr sz="1400" dirty="0"/>
              <a:t>• Conclusion: Reading is the dominant predictor of writing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Disparities in Student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r>
              <a:rPr sz="1400" dirty="0"/>
              <a:t>Gender: Females perform better in reading/writing, males slightly better in math.</a:t>
            </a:r>
          </a:p>
          <a:p>
            <a:r>
              <a:rPr sz="1400" dirty="0"/>
              <a:t>Race: Group E leads in scores; Group A and B show lower averages.</a:t>
            </a:r>
          </a:p>
          <a:p>
            <a:r>
              <a:rPr sz="1400" dirty="0"/>
              <a:t>Parental Education: Higher levels linked to better scores.</a:t>
            </a:r>
          </a:p>
          <a:p>
            <a:r>
              <a:rPr sz="1400" dirty="0"/>
              <a:t>Lunch: Students with standard lunch outperform those on free/reduced lunch.</a:t>
            </a:r>
          </a:p>
          <a:p>
            <a:r>
              <a:rPr sz="1400" dirty="0"/>
              <a:t>Test Prep: Completing it raises average scores by ~10–15 points.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Equity Simulation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400" dirty="0"/>
          </a:p>
          <a:p>
            <a:pPr marL="0" indent="0">
              <a:buNone/>
            </a:pPr>
            <a:r>
              <a:rPr sz="1400" dirty="0"/>
              <a:t>• Scenario: All students receive standard lunch, test prep, and high parental education.</a:t>
            </a:r>
          </a:p>
          <a:p>
            <a:pPr marL="0" indent="0">
              <a:buNone/>
            </a:pPr>
            <a:r>
              <a:rPr sz="1400" dirty="0"/>
              <a:t>• Original Predicted Average Score: 204.32</a:t>
            </a:r>
          </a:p>
          <a:p>
            <a:pPr marL="0" indent="0">
              <a:buNone/>
            </a:pPr>
            <a:r>
              <a:rPr sz="1400" dirty="0"/>
              <a:t>• Simulated Equity Score: 228.98</a:t>
            </a:r>
          </a:p>
          <a:p>
            <a:pPr marL="0" indent="0">
              <a:buNone/>
            </a:pPr>
            <a:r>
              <a:rPr sz="1400" dirty="0"/>
              <a:t>• Predicted Gain: +24.65 points (~8%)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Modeling Total Performance from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1600" dirty="0"/>
          </a:p>
          <a:p>
            <a:pPr marL="0" indent="0">
              <a:buNone/>
            </a:pPr>
            <a:r>
              <a:rPr sz="1600" dirty="0"/>
              <a:t>• Linear Regression R²: 0.13 | RF R²: -0.03</a:t>
            </a:r>
          </a:p>
          <a:p>
            <a:pPr marL="0" indent="0">
              <a:buNone/>
            </a:pPr>
            <a:r>
              <a:rPr sz="1600" dirty="0"/>
              <a:t>• Demographics alone are weak predictors of overall performance.</a:t>
            </a:r>
          </a:p>
          <a:p>
            <a:pPr marL="0" indent="0">
              <a:buNone/>
            </a:pPr>
            <a:r>
              <a:rPr sz="1600" dirty="0"/>
              <a:t>• Socioeconomic and educational context matters, but does not fully determine success.</a:t>
            </a:r>
          </a:p>
          <a:p>
            <a:pPr marL="0" indent="0">
              <a:buNone/>
            </a:pPr>
            <a:r>
              <a:rPr sz="1600" dirty="0"/>
              <a:t>• Need to include academic scores (reading, math) for better prediction.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6A34D-05EB-A435-4BE0-691A1CB9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What Worked Well (In Both Analyses)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D85653-7E16-C323-1040-CAD50923A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5408926"/>
              </p:ext>
            </p:extLst>
          </p:nvPr>
        </p:nvGraphicFramePr>
        <p:xfrm>
          <a:off x="482600" y="2121698"/>
          <a:ext cx="8178800" cy="3501261"/>
        </p:xfrm>
        <a:graphic>
          <a:graphicData uri="http://schemas.openxmlformats.org/drawingml/2006/table">
            <a:tbl>
              <a:tblPr/>
              <a:tblGrid>
                <a:gridCol w="2685747">
                  <a:extLst>
                    <a:ext uri="{9D8B030D-6E8A-4147-A177-3AD203B41FA5}">
                      <a16:colId xmlns:a16="http://schemas.microsoft.com/office/drawing/2014/main" val="2313984553"/>
                    </a:ext>
                  </a:extLst>
                </a:gridCol>
                <a:gridCol w="2807306">
                  <a:extLst>
                    <a:ext uri="{9D8B030D-6E8A-4147-A177-3AD203B41FA5}">
                      <a16:colId xmlns:a16="http://schemas.microsoft.com/office/drawing/2014/main" val="2702905067"/>
                    </a:ext>
                  </a:extLst>
                </a:gridCol>
                <a:gridCol w="2685747">
                  <a:extLst>
                    <a:ext uri="{9D8B030D-6E8A-4147-A177-3AD203B41FA5}">
                      <a16:colId xmlns:a16="http://schemas.microsoft.com/office/drawing/2014/main" val="534733693"/>
                    </a:ext>
                  </a:extLst>
                </a:gridCol>
              </a:tblGrid>
              <a:tr h="284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Area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Your Analysis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GPT Analysis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475457"/>
                  </a:ext>
                </a:extLst>
              </a:tr>
              <a:tr h="662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Core Metrics</a:t>
                      </a:r>
                      <a:endParaRPr lang="en-US" sz="1200"/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Covered math, reading, writing scores, and examined group averages.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Same coverage with detailed distribution analysis.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837075"/>
                  </a:ext>
                </a:extLst>
              </a:tr>
              <a:tr h="47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Correlation</a:t>
                      </a:r>
                      <a:endParaRPr lang="en-US" sz="1200" dirty="0"/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Included Pearson correlation matrix (Reading &amp; Writing ~0.95).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Identical findings and expanded with heatmap visual.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98131"/>
                  </a:ext>
                </a:extLst>
              </a:tr>
              <a:tr h="47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Test Preparation</a:t>
                      </a:r>
                      <a:endParaRPr lang="en-US" sz="1200"/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Identified score gains across all subjects with test prep.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Same conclusion with visualized average score uplift.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10982"/>
                  </a:ext>
                </a:extLst>
              </a:tr>
              <a:tr h="47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Socioeconomic Impact (Lunch)</a:t>
                      </a:r>
                      <a:endParaRPr lang="en-US" sz="1200"/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Highlighted strong score differences by lunch type (SES).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Confirmed and visualized impact clearly.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199000"/>
                  </a:ext>
                </a:extLst>
              </a:tr>
              <a:tr h="662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Gender Differences</a:t>
                      </a:r>
                      <a:endParaRPr lang="en-US" sz="1200"/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Observed female strengths in reading/writing and male edge in math.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Consistent, with gender-grouped score plots.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952577"/>
                  </a:ext>
                </a:extLst>
              </a:tr>
              <a:tr h="47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Parental Education</a:t>
                      </a:r>
                      <a:endParaRPr lang="en-US" sz="1200"/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Identified a positive correlation with student scores.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Same, plus shown in regression and bar chart analysis.</a:t>
                      </a:r>
                    </a:p>
                  </a:txBody>
                  <a:tcPr marL="62661" marR="62661" marT="31330" marB="3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648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923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27D01-F42A-AC36-2D66-76D31B54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dirty="0">
                <a:solidFill>
                  <a:schemeClr val="bg1"/>
                </a:solidFill>
              </a:rPr>
              <a:t>Areas of Improvement or Divergence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5304AE-81DD-D3C0-3D7C-FA086FC143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759178"/>
              </p:ext>
            </p:extLst>
          </p:nvPr>
        </p:nvGraphicFramePr>
        <p:xfrm>
          <a:off x="499578" y="1675227"/>
          <a:ext cx="8144843" cy="439420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88112">
                  <a:extLst>
                    <a:ext uri="{9D8B030D-6E8A-4147-A177-3AD203B41FA5}">
                      <a16:colId xmlns:a16="http://schemas.microsoft.com/office/drawing/2014/main" val="923876862"/>
                    </a:ext>
                  </a:extLst>
                </a:gridCol>
                <a:gridCol w="2673053">
                  <a:extLst>
                    <a:ext uri="{9D8B030D-6E8A-4147-A177-3AD203B41FA5}">
                      <a16:colId xmlns:a16="http://schemas.microsoft.com/office/drawing/2014/main" val="3420409760"/>
                    </a:ext>
                  </a:extLst>
                </a:gridCol>
                <a:gridCol w="2783678">
                  <a:extLst>
                    <a:ext uri="{9D8B030D-6E8A-4147-A177-3AD203B41FA5}">
                      <a16:colId xmlns:a16="http://schemas.microsoft.com/office/drawing/2014/main" val="1949349065"/>
                    </a:ext>
                  </a:extLst>
                </a:gridCol>
              </a:tblGrid>
              <a:tr h="339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Topic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Observation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Suggested Improvements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59884"/>
                  </a:ext>
                </a:extLst>
              </a:tr>
              <a:tr h="70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Toolset Used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Your analysis was Excel-centric.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GPT used Python (Pandas, Seaborn, sklearn) for deeper modeling and better visual clarity.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125764"/>
                  </a:ext>
                </a:extLst>
              </a:tr>
              <a:tr h="70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Modeling Techniques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Basic statistical tools (T.TEST, ANOVA) discussed.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GPT included regression (Linear, Random Forest), RMSE, R² scores, and simulations.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28122"/>
                  </a:ext>
                </a:extLst>
              </a:tr>
              <a:tr h="70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Visualizations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Charts were created but not embedded in this PDF.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GPT-generated presentation includes high-res plots (distributions, group comparisons).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594828"/>
                  </a:ext>
                </a:extLst>
              </a:tr>
              <a:tr h="70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Simulation of Equity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Not attempted.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GPT simulated "equity" scenario (equal lunch, prep, education) → predicted 25-point performance gain.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002455"/>
                  </a:ext>
                </a:extLst>
              </a:tr>
              <a:tr h="70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Error Analysis / Outliers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Not included.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GPT identified 1.2% outliers and analyzed their traits (low SES, no prep, low parent ed).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2818"/>
                  </a:ext>
                </a:extLst>
              </a:tr>
              <a:tr h="522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Depth of Prompts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No AI exploration prompts provided.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 dirty="0">
                          <a:solidFill>
                            <a:schemeClr val="tx1"/>
                          </a:solidFill>
                        </a:rPr>
                        <a:t>GPT provided a set of next-step questions to deepen exploration.</a:t>
                      </a:r>
                    </a:p>
                  </a:txBody>
                  <a:tcPr marL="0" marR="55374" marT="27521" marB="917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25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874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2653-CA17-3C24-3E06-ACF9BC10C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                                        Recommendations for Future Improvement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0082B-DF88-E910-D1F9-9ED9C28EF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Augment Excel with Python</a:t>
            </a:r>
            <a:r>
              <a:rPr lang="en-US" sz="1600" dirty="0"/>
              <a:t>: Use </a:t>
            </a:r>
            <a:r>
              <a:rPr lang="en-US" sz="1600" dirty="0" err="1"/>
              <a:t>Jupyter</a:t>
            </a:r>
            <a:r>
              <a:rPr lang="en-US" sz="1600" dirty="0"/>
              <a:t> Notebooks for modeling, visualization, and automation.</a:t>
            </a:r>
          </a:p>
          <a:p>
            <a:r>
              <a:rPr lang="en-US" sz="1600" b="1" dirty="0"/>
              <a:t>Include Predictive Modeling</a:t>
            </a:r>
            <a:r>
              <a:rPr lang="en-US" sz="1600" dirty="0"/>
              <a:t>: Test linear vs tree-based models to predict student outcomes.</a:t>
            </a:r>
          </a:p>
          <a:p>
            <a:r>
              <a:rPr lang="en-US" sz="1600" b="1" dirty="0"/>
              <a:t>Apply Hypothesis Tests More Broadly</a:t>
            </a:r>
            <a:r>
              <a:rPr lang="en-US" sz="1600" dirty="0"/>
              <a:t>: Validate observed patterns using statistical testing.</a:t>
            </a:r>
          </a:p>
          <a:p>
            <a:r>
              <a:rPr lang="en-US" sz="1600" b="1" dirty="0"/>
              <a:t>Simulate Interventions</a:t>
            </a:r>
            <a:r>
              <a:rPr lang="en-US" sz="1600" dirty="0"/>
              <a:t>: Estimate impact of improving prep access or reducing SES gaps.</a:t>
            </a:r>
          </a:p>
          <a:p>
            <a:r>
              <a:rPr lang="en-US" sz="1600" b="1" dirty="0"/>
              <a:t>Structure for Impact</a:t>
            </a:r>
            <a:r>
              <a:rPr lang="en-US" sz="1600" dirty="0"/>
              <a:t>: Tie findings to practical policy recommendations (e.g., increase prep access, target lunch support).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739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A887-D31E-8B6E-9984-F1F856AA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Conclusions &amp; Lessons Learned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6D3F1-918B-592B-EA00-C9094B2F2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/>
              <a:t>Strengths of Your Approach:</a:t>
            </a:r>
          </a:p>
          <a:p>
            <a:r>
              <a:rPr lang="en-US" sz="1400" dirty="0"/>
              <a:t>Solid foundational analysis with correct statistical logic.</a:t>
            </a:r>
          </a:p>
          <a:p>
            <a:r>
              <a:rPr lang="en-US" sz="1400" dirty="0"/>
              <a:t>Efficient use of Excel for quick comparisons and hypothesis testing.</a:t>
            </a:r>
          </a:p>
          <a:p>
            <a:r>
              <a:rPr lang="en-US" sz="1400" dirty="0"/>
              <a:t>Clearly structured summary that aligns well with educational research.</a:t>
            </a:r>
          </a:p>
          <a:p>
            <a:r>
              <a:rPr lang="en-US" sz="1400" b="1" dirty="0"/>
              <a:t>🔍 Missed Opportunities:</a:t>
            </a:r>
          </a:p>
          <a:p>
            <a:r>
              <a:rPr lang="en-US" sz="1400" dirty="0"/>
              <a:t>No predictive modeling or feature importance evaluation.</a:t>
            </a:r>
          </a:p>
          <a:p>
            <a:r>
              <a:rPr lang="en-US" sz="1400" dirty="0"/>
              <a:t>No outlier identification or simulation of policy changes.</a:t>
            </a:r>
          </a:p>
          <a:p>
            <a:r>
              <a:rPr lang="en-US" sz="1400" dirty="0"/>
              <a:t>Lacked visual exploration of score distributions and relationships.</a:t>
            </a:r>
          </a:p>
          <a:p>
            <a:r>
              <a:rPr lang="en-US" sz="1400" b="1" dirty="0"/>
              <a:t>📈 Advantages of GPT Analysis:</a:t>
            </a:r>
          </a:p>
          <a:p>
            <a:r>
              <a:rPr lang="en-US" sz="1400" dirty="0"/>
              <a:t>Broader scope using Python and machine learning tools.</a:t>
            </a:r>
          </a:p>
          <a:p>
            <a:r>
              <a:rPr lang="en-US" sz="1400" dirty="0"/>
              <a:t>Clean visuals, deeper insight into patterns and correlations.</a:t>
            </a:r>
          </a:p>
          <a:p>
            <a:r>
              <a:rPr lang="en-US" sz="1400" dirty="0"/>
              <a:t>Actionable insights from simulated equity scenario.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4304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1136</Words>
  <Application>Microsoft Macintosh PowerPoint</Application>
  <PresentationFormat>On-screen Show (4:3)</PresentationFormat>
  <Paragraphs>132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Student Performance Analysis Using ChatGPT</vt:lpstr>
      <vt:lpstr>Introduction</vt:lpstr>
      <vt:lpstr>Methodology Summary</vt:lpstr>
      <vt:lpstr>Distribution of Writing Scores</vt:lpstr>
      <vt:lpstr>Correlation Between Math, Reading, and Writing Scores</vt:lpstr>
      <vt:lpstr>Average Scores by Gender</vt:lpstr>
      <vt:lpstr>Average Scores by Lunch Type</vt:lpstr>
      <vt:lpstr>Average Scores by Test Preparation Course</vt:lpstr>
      <vt:lpstr>Average Scores by Parental Level of Education</vt:lpstr>
      <vt:lpstr>Modeling Recommendations</vt:lpstr>
      <vt:lpstr>Prompts for Further Exploration</vt:lpstr>
      <vt:lpstr>Key Data Insights</vt:lpstr>
      <vt:lpstr>Writing Score Prediction (Random Forest)</vt:lpstr>
      <vt:lpstr>Disparities in Student Performance</vt:lpstr>
      <vt:lpstr>Equity Simulation Results</vt:lpstr>
      <vt:lpstr>Modeling Total Performance from Demographics</vt:lpstr>
      <vt:lpstr>What Worked Well (In Both Analyses)</vt:lpstr>
      <vt:lpstr>Areas of Improvement or Divergence</vt:lpstr>
      <vt:lpstr>                                         Recommendations for Future Improvement </vt:lpstr>
      <vt:lpstr>Conclusions &amp; Lessons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Shivani Mandora</cp:lastModifiedBy>
  <cp:revision>15</cp:revision>
  <dcterms:created xsi:type="dcterms:W3CDTF">2013-01-27T09:14:16Z</dcterms:created>
  <dcterms:modified xsi:type="dcterms:W3CDTF">2025-10-14T20:57:53Z</dcterms:modified>
  <cp:category/>
</cp:coreProperties>
</file>
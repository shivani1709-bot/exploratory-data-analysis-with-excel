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70" r:id="rId11"/>
    <p:sldId id="263" r:id="rId12"/>
    <p:sldId id="271" r:id="rId13"/>
    <p:sldId id="264" r:id="rId14"/>
    <p:sldId id="265" r:id="rId15"/>
    <p:sldId id="266" r:id="rId16"/>
    <p:sldId id="267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shivani/Downloads/Income%20and%20data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Income Distribution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'[2]Pivot Income by Age'!$B$1</c:f>
              <c:strCache>
                <c:ptCount val="1"/>
                <c:pt idx="0">
                  <c:v>15-19 years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Age'!$B$2:$B$17</c:f>
              <c:numCache>
                <c:formatCode>General</c:formatCode>
                <c:ptCount val="16"/>
                <c:pt idx="0">
                  <c:v>12895</c:v>
                </c:pt>
                <c:pt idx="1">
                  <c:v>4206</c:v>
                </c:pt>
                <c:pt idx="2">
                  <c:v>2020</c:v>
                </c:pt>
                <c:pt idx="3">
                  <c:v>891</c:v>
                </c:pt>
                <c:pt idx="4">
                  <c:v>296844</c:v>
                </c:pt>
                <c:pt idx="5">
                  <c:v>173693</c:v>
                </c:pt>
                <c:pt idx="6">
                  <c:v>789</c:v>
                </c:pt>
                <c:pt idx="7">
                  <c:v>280</c:v>
                </c:pt>
                <c:pt idx="8">
                  <c:v>838</c:v>
                </c:pt>
                <c:pt idx="9">
                  <c:v>70458</c:v>
                </c:pt>
                <c:pt idx="10">
                  <c:v>58470</c:v>
                </c:pt>
                <c:pt idx="11">
                  <c:v>66764</c:v>
                </c:pt>
                <c:pt idx="12">
                  <c:v>42445</c:v>
                </c:pt>
                <c:pt idx="13">
                  <c:v>26566</c:v>
                </c:pt>
                <c:pt idx="14">
                  <c:v>607052</c:v>
                </c:pt>
                <c:pt idx="15">
                  <c:v>93605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D-DD4A-A5C3-4E642DE9D9B8}"/>
            </c:ext>
          </c:extLst>
        </c:ser>
        <c:ser>
          <c:idx val="1"/>
          <c:order val="1"/>
          <c:tx>
            <c:strRef>
              <c:f>'[2]Pivot Income by Age'!$C$1</c:f>
              <c:strCache>
                <c:ptCount val="1"/>
                <c:pt idx="0">
                  <c:v>20-24 years 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Age'!$C$2:$C$17</c:f>
              <c:numCache>
                <c:formatCode>General</c:formatCode>
                <c:ptCount val="16"/>
                <c:pt idx="0">
                  <c:v>166160</c:v>
                </c:pt>
                <c:pt idx="1">
                  <c:v>94864</c:v>
                </c:pt>
                <c:pt idx="2">
                  <c:v>45621</c:v>
                </c:pt>
                <c:pt idx="3">
                  <c:v>19174</c:v>
                </c:pt>
                <c:pt idx="4">
                  <c:v>58277</c:v>
                </c:pt>
                <c:pt idx="5">
                  <c:v>133963</c:v>
                </c:pt>
                <c:pt idx="6">
                  <c:v>17600</c:v>
                </c:pt>
                <c:pt idx="7">
                  <c:v>2643</c:v>
                </c:pt>
                <c:pt idx="8">
                  <c:v>3431</c:v>
                </c:pt>
                <c:pt idx="9">
                  <c:v>124868</c:v>
                </c:pt>
                <c:pt idx="10">
                  <c:v>117763</c:v>
                </c:pt>
                <c:pt idx="11">
                  <c:v>167047</c:v>
                </c:pt>
                <c:pt idx="12">
                  <c:v>183105</c:v>
                </c:pt>
                <c:pt idx="13">
                  <c:v>200407</c:v>
                </c:pt>
                <c:pt idx="14">
                  <c:v>130984</c:v>
                </c:pt>
                <c:pt idx="15">
                  <c:v>113638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8D-DD4A-A5C3-4E642DE9D9B8}"/>
            </c:ext>
          </c:extLst>
        </c:ser>
        <c:ser>
          <c:idx val="2"/>
          <c:order val="2"/>
          <c:tx>
            <c:strRef>
              <c:f>'[2]Pivot Income by Age'!$D$1</c:f>
              <c:strCache>
                <c:ptCount val="1"/>
                <c:pt idx="0">
                  <c:v>25-34 years 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Age'!$D$2:$D$17</c:f>
              <c:numCache>
                <c:formatCode>General</c:formatCode>
                <c:ptCount val="16"/>
                <c:pt idx="0">
                  <c:v>477733</c:v>
                </c:pt>
                <c:pt idx="1">
                  <c:v>387831</c:v>
                </c:pt>
                <c:pt idx="2">
                  <c:v>332527</c:v>
                </c:pt>
                <c:pt idx="3">
                  <c:v>220983</c:v>
                </c:pt>
                <c:pt idx="4">
                  <c:v>42820</c:v>
                </c:pt>
                <c:pt idx="5">
                  <c:v>105534</c:v>
                </c:pt>
                <c:pt idx="6">
                  <c:v>318794</c:v>
                </c:pt>
                <c:pt idx="7">
                  <c:v>53684</c:v>
                </c:pt>
                <c:pt idx="8">
                  <c:v>57105</c:v>
                </c:pt>
                <c:pt idx="9">
                  <c:v>139382</c:v>
                </c:pt>
                <c:pt idx="10">
                  <c:v>142917</c:v>
                </c:pt>
                <c:pt idx="11">
                  <c:v>222110</c:v>
                </c:pt>
                <c:pt idx="12">
                  <c:v>272209</c:v>
                </c:pt>
                <c:pt idx="13">
                  <c:v>390549</c:v>
                </c:pt>
                <c:pt idx="14">
                  <c:v>191994</c:v>
                </c:pt>
                <c:pt idx="15">
                  <c:v>268580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8D-DD4A-A5C3-4E642DE9D9B8}"/>
            </c:ext>
          </c:extLst>
        </c:ser>
        <c:ser>
          <c:idx val="3"/>
          <c:order val="3"/>
          <c:tx>
            <c:strRef>
              <c:f>'[2]Pivot Income by Age'!$E$1</c:f>
              <c:strCache>
                <c:ptCount val="1"/>
                <c:pt idx="0">
                  <c:v>35-44 years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Age'!$E$2:$E$17</c:f>
              <c:numCache>
                <c:formatCode>General</c:formatCode>
                <c:ptCount val="16"/>
                <c:pt idx="0">
                  <c:v>366479</c:v>
                </c:pt>
                <c:pt idx="1">
                  <c:v>306629</c:v>
                </c:pt>
                <c:pt idx="2">
                  <c:v>296110</c:v>
                </c:pt>
                <c:pt idx="3">
                  <c:v>242952</c:v>
                </c:pt>
                <c:pt idx="4">
                  <c:v>46670</c:v>
                </c:pt>
                <c:pt idx="5">
                  <c:v>94670</c:v>
                </c:pt>
                <c:pt idx="6">
                  <c:v>480852</c:v>
                </c:pt>
                <c:pt idx="7">
                  <c:v>117316</c:v>
                </c:pt>
                <c:pt idx="8">
                  <c:v>191821</c:v>
                </c:pt>
                <c:pt idx="9">
                  <c:v>121468</c:v>
                </c:pt>
                <c:pt idx="10">
                  <c:v>126465</c:v>
                </c:pt>
                <c:pt idx="11">
                  <c:v>181008</c:v>
                </c:pt>
                <c:pt idx="12">
                  <c:v>216037</c:v>
                </c:pt>
                <c:pt idx="13">
                  <c:v>292553</c:v>
                </c:pt>
                <c:pt idx="14">
                  <c:v>178296</c:v>
                </c:pt>
                <c:pt idx="15">
                  <c:v>228339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8D-DD4A-A5C3-4E642DE9D9B8}"/>
            </c:ext>
          </c:extLst>
        </c:ser>
        <c:ser>
          <c:idx val="4"/>
          <c:order val="4"/>
          <c:tx>
            <c:strRef>
              <c:f>'[2]Pivot Income by Age'!$F$1</c:f>
              <c:strCache>
                <c:ptCount val="1"/>
                <c:pt idx="0">
                  <c:v>45-54 years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Age'!$F$2:$F$17</c:f>
              <c:numCache>
                <c:formatCode>General</c:formatCode>
                <c:ptCount val="16"/>
                <c:pt idx="0">
                  <c:v>334524</c:v>
                </c:pt>
                <c:pt idx="1">
                  <c:v>267897</c:v>
                </c:pt>
                <c:pt idx="2">
                  <c:v>257389</c:v>
                </c:pt>
                <c:pt idx="3">
                  <c:v>212796</c:v>
                </c:pt>
                <c:pt idx="4">
                  <c:v>45883</c:v>
                </c:pt>
                <c:pt idx="5">
                  <c:v>94631</c:v>
                </c:pt>
                <c:pt idx="6">
                  <c:v>411649</c:v>
                </c:pt>
                <c:pt idx="7">
                  <c:v>104457</c:v>
                </c:pt>
                <c:pt idx="8">
                  <c:v>217435</c:v>
                </c:pt>
                <c:pt idx="9">
                  <c:v>139424</c:v>
                </c:pt>
                <c:pt idx="10">
                  <c:v>143183</c:v>
                </c:pt>
                <c:pt idx="11">
                  <c:v>177973</c:v>
                </c:pt>
                <c:pt idx="12">
                  <c:v>200181</c:v>
                </c:pt>
                <c:pt idx="13">
                  <c:v>274061</c:v>
                </c:pt>
                <c:pt idx="14">
                  <c:v>163238</c:v>
                </c:pt>
                <c:pt idx="15">
                  <c:v>202186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8D-DD4A-A5C3-4E642DE9D9B8}"/>
            </c:ext>
          </c:extLst>
        </c:ser>
        <c:ser>
          <c:idx val="5"/>
          <c:order val="5"/>
          <c:tx>
            <c:strRef>
              <c:f>'[2]Pivot Income by Age'!$G$1</c:f>
              <c:strCache>
                <c:ptCount val="1"/>
                <c:pt idx="0">
                  <c:v>55-64 years 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Age'!$G$2:$G$17</c:f>
              <c:numCache>
                <c:formatCode>General</c:formatCode>
                <c:ptCount val="16"/>
                <c:pt idx="0">
                  <c:v>296711</c:v>
                </c:pt>
                <c:pt idx="1">
                  <c:v>216571</c:v>
                </c:pt>
                <c:pt idx="2">
                  <c:v>194259</c:v>
                </c:pt>
                <c:pt idx="3">
                  <c:v>149204</c:v>
                </c:pt>
                <c:pt idx="4">
                  <c:v>70962</c:v>
                </c:pt>
                <c:pt idx="5">
                  <c:v>135717</c:v>
                </c:pt>
                <c:pt idx="6">
                  <c:v>257162</c:v>
                </c:pt>
                <c:pt idx="7">
                  <c:v>62831</c:v>
                </c:pt>
                <c:pt idx="8">
                  <c:v>129484</c:v>
                </c:pt>
                <c:pt idx="9">
                  <c:v>210533</c:v>
                </c:pt>
                <c:pt idx="10">
                  <c:v>199808</c:v>
                </c:pt>
                <c:pt idx="11">
                  <c:v>205475</c:v>
                </c:pt>
                <c:pt idx="12">
                  <c:v>201273</c:v>
                </c:pt>
                <c:pt idx="13">
                  <c:v>250365</c:v>
                </c:pt>
                <c:pt idx="14">
                  <c:v>250645</c:v>
                </c:pt>
                <c:pt idx="15">
                  <c:v>179004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8D-DD4A-A5C3-4E642DE9D9B8}"/>
            </c:ext>
          </c:extLst>
        </c:ser>
        <c:ser>
          <c:idx val="6"/>
          <c:order val="6"/>
          <c:tx>
            <c:strRef>
              <c:f>'[2]Pivot Income by Age'!$H$1</c:f>
              <c:strCache>
                <c:ptCount val="1"/>
                <c:pt idx="0">
                  <c:v>65-74 years 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Age'!$H$2:$H$17</c:f>
              <c:numCache>
                <c:formatCode>General</c:formatCode>
                <c:ptCount val="16"/>
                <c:pt idx="0">
                  <c:v>150136</c:v>
                </c:pt>
                <c:pt idx="1">
                  <c:v>91707</c:v>
                </c:pt>
                <c:pt idx="2">
                  <c:v>71209</c:v>
                </c:pt>
                <c:pt idx="3">
                  <c:v>46773</c:v>
                </c:pt>
                <c:pt idx="4">
                  <c:v>76009</c:v>
                </c:pt>
                <c:pt idx="5">
                  <c:v>156382</c:v>
                </c:pt>
                <c:pt idx="6">
                  <c:v>67107</c:v>
                </c:pt>
                <c:pt idx="7">
                  <c:v>18182</c:v>
                </c:pt>
                <c:pt idx="8">
                  <c:v>43040</c:v>
                </c:pt>
                <c:pt idx="9">
                  <c:v>402952</c:v>
                </c:pt>
                <c:pt idx="10">
                  <c:v>368018</c:v>
                </c:pt>
                <c:pt idx="11">
                  <c:v>267942</c:v>
                </c:pt>
                <c:pt idx="12">
                  <c:v>189502</c:v>
                </c:pt>
                <c:pt idx="13">
                  <c:v>158085</c:v>
                </c:pt>
                <c:pt idx="14">
                  <c:v>191702</c:v>
                </c:pt>
                <c:pt idx="15">
                  <c:v>160513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8D-DD4A-A5C3-4E642DE9D9B8}"/>
            </c:ext>
          </c:extLst>
        </c:ser>
        <c:ser>
          <c:idx val="7"/>
          <c:order val="7"/>
          <c:tx>
            <c:strRef>
              <c:f>'[2]Pivot Income by Age'!$I$1</c:f>
              <c:strCache>
                <c:ptCount val="1"/>
                <c:pt idx="0">
                  <c:v>75-84 years 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Age'!$I$2:$I$17</c:f>
              <c:numCache>
                <c:formatCode>General</c:formatCode>
                <c:ptCount val="16"/>
                <c:pt idx="0">
                  <c:v>49906</c:v>
                </c:pt>
                <c:pt idx="1">
                  <c:v>26562</c:v>
                </c:pt>
                <c:pt idx="2">
                  <c:v>22887</c:v>
                </c:pt>
                <c:pt idx="3">
                  <c:v>12531</c:v>
                </c:pt>
                <c:pt idx="4">
                  <c:v>31975</c:v>
                </c:pt>
                <c:pt idx="5">
                  <c:v>84260</c:v>
                </c:pt>
                <c:pt idx="6">
                  <c:v>16720</c:v>
                </c:pt>
                <c:pt idx="7">
                  <c:v>5358</c:v>
                </c:pt>
                <c:pt idx="8">
                  <c:v>14939</c:v>
                </c:pt>
                <c:pt idx="9">
                  <c:v>284006</c:v>
                </c:pt>
                <c:pt idx="10">
                  <c:v>284519</c:v>
                </c:pt>
                <c:pt idx="11">
                  <c:v>162237</c:v>
                </c:pt>
                <c:pt idx="12">
                  <c:v>103124</c:v>
                </c:pt>
                <c:pt idx="13">
                  <c:v>67409</c:v>
                </c:pt>
                <c:pt idx="14">
                  <c:v>74317</c:v>
                </c:pt>
                <c:pt idx="15">
                  <c:v>135758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F8D-DD4A-A5C3-4E642DE9D9B8}"/>
            </c:ext>
          </c:extLst>
        </c:ser>
        <c:ser>
          <c:idx val="8"/>
          <c:order val="8"/>
          <c:tx>
            <c:strRef>
              <c:f>'[2]Pivot Income by Age'!$J$1</c:f>
              <c:strCache>
                <c:ptCount val="1"/>
                <c:pt idx="0">
                  <c:v>85 years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'[2]Pivot Income by Age'!$A$2:$A$17</c:f>
              <c:strCache>
                <c:ptCount val="16"/>
                <c:pt idx="0">
                  <c:v>$1,000-$1,249</c:v>
                </c:pt>
                <c:pt idx="1">
                  <c:v>$1,250-$1,499</c:v>
                </c:pt>
                <c:pt idx="2">
                  <c:v>$1,500-$1,749</c:v>
                </c:pt>
                <c:pt idx="3">
                  <c:v>$1,750-$1,999</c:v>
                </c:pt>
                <c:pt idx="4">
                  <c:v>$1-$149</c:v>
                </c:pt>
                <c:pt idx="5">
                  <c:v>$150-$299</c:v>
                </c:pt>
                <c:pt idx="6">
                  <c:v>$2,000-$2,999</c:v>
                </c:pt>
                <c:pt idx="7">
                  <c:v>$3,000-$3,499</c:v>
                </c:pt>
                <c:pt idx="8">
                  <c:v>$3,500 or more</c:v>
                </c:pt>
                <c:pt idx="9">
                  <c:v>$300-$399</c:v>
                </c:pt>
                <c:pt idx="10">
                  <c:v>$400-$499</c:v>
                </c:pt>
                <c:pt idx="11">
                  <c:v>$500-$649</c:v>
                </c:pt>
                <c:pt idx="12">
                  <c:v>$650-$799</c:v>
                </c:pt>
                <c:pt idx="13">
                  <c:v>$800-$999 </c:v>
                </c:pt>
                <c:pt idx="14">
                  <c:v>Negative/Nil income</c:v>
                </c:pt>
                <c:pt idx="15">
                  <c:v>Personal income not stated</c:v>
                </c:pt>
              </c:strCache>
            </c:strRef>
          </c:cat>
          <c:val>
            <c:numRef>
              <c:f>'[2]Pivot Income by Age'!$J$2:$J$17</c:f>
              <c:numCache>
                <c:formatCode>General</c:formatCode>
                <c:ptCount val="16"/>
                <c:pt idx="0">
                  <c:v>12275</c:v>
                </c:pt>
                <c:pt idx="1">
                  <c:v>6607</c:v>
                </c:pt>
                <c:pt idx="2">
                  <c:v>7001</c:v>
                </c:pt>
                <c:pt idx="3">
                  <c:v>3288</c:v>
                </c:pt>
                <c:pt idx="4">
                  <c:v>10361</c:v>
                </c:pt>
                <c:pt idx="5">
                  <c:v>26218</c:v>
                </c:pt>
                <c:pt idx="6">
                  <c:v>4385</c:v>
                </c:pt>
                <c:pt idx="7">
                  <c:v>1599</c:v>
                </c:pt>
                <c:pt idx="8">
                  <c:v>4616</c:v>
                </c:pt>
                <c:pt idx="9">
                  <c:v>80504</c:v>
                </c:pt>
                <c:pt idx="10">
                  <c:v>140454</c:v>
                </c:pt>
                <c:pt idx="11">
                  <c:v>60608</c:v>
                </c:pt>
                <c:pt idx="12">
                  <c:v>31074</c:v>
                </c:pt>
                <c:pt idx="13">
                  <c:v>20620</c:v>
                </c:pt>
                <c:pt idx="14">
                  <c:v>28150</c:v>
                </c:pt>
                <c:pt idx="15">
                  <c:v>104592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8D-DD4A-A5C3-4E642DE9D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Income Range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Household Income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'[3]Pivot Household Income'!$B$1</c:f>
              <c:strCache>
                <c:ptCount val="1"/>
                <c:pt idx="0">
                  <c:v>Family households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'[3]Pivot Household Income'!$A$2:$A$20</c:f>
              <c:strCache>
                <c:ptCount val="19"/>
                <c:pt idx="0">
                  <c:v>Negative/Nil income</c:v>
                </c:pt>
                <c:pt idx="1">
                  <c:v>$1-$149</c:v>
                </c:pt>
                <c:pt idx="2">
                  <c:v>$150-$299</c:v>
                </c:pt>
                <c:pt idx="3">
                  <c:v>$300-$399</c:v>
                </c:pt>
                <c:pt idx="4">
                  <c:v>$400-$499</c:v>
                </c:pt>
                <c:pt idx="5">
                  <c:v>$500-$649</c:v>
                </c:pt>
                <c:pt idx="6">
                  <c:v>$650-$799</c:v>
                </c:pt>
                <c:pt idx="7">
                  <c:v>$800-$999</c:v>
                </c:pt>
                <c:pt idx="8">
                  <c:v>$1,000-$1,249</c:v>
                </c:pt>
                <c:pt idx="9">
                  <c:v>$1,250-$1,499</c:v>
                </c:pt>
                <c:pt idx="10">
                  <c:v>$1,500-$1,749</c:v>
                </c:pt>
                <c:pt idx="11">
                  <c:v>$1,750-$1,999</c:v>
                </c:pt>
                <c:pt idx="12">
                  <c:v>$2,000-$2,499</c:v>
                </c:pt>
                <c:pt idx="13">
                  <c:v>$2,500-$2,999</c:v>
                </c:pt>
                <c:pt idx="14">
                  <c:v>$3,000-$3,499</c:v>
                </c:pt>
                <c:pt idx="15">
                  <c:v>$3,500-$3,999</c:v>
                </c:pt>
                <c:pt idx="16">
                  <c:v>$4,000 or more</c:v>
                </c:pt>
                <c:pt idx="17">
                  <c:v>Partial income stated</c:v>
                </c:pt>
                <c:pt idx="18">
                  <c:v>All incomes not stated</c:v>
                </c:pt>
              </c:strCache>
            </c:strRef>
          </c:cat>
          <c:val>
            <c:numRef>
              <c:f>'[3]Pivot Household Income'!$B$2:$B$20</c:f>
              <c:numCache>
                <c:formatCode>General</c:formatCode>
                <c:ptCount val="19"/>
                <c:pt idx="0">
                  <c:v>71343</c:v>
                </c:pt>
                <c:pt idx="1">
                  <c:v>27184</c:v>
                </c:pt>
                <c:pt idx="2">
                  <c:v>29458</c:v>
                </c:pt>
                <c:pt idx="3">
                  <c:v>33610</c:v>
                </c:pt>
                <c:pt idx="4">
                  <c:v>104593</c:v>
                </c:pt>
                <c:pt idx="5">
                  <c:v>118319</c:v>
                </c:pt>
                <c:pt idx="6">
                  <c:v>358514</c:v>
                </c:pt>
                <c:pt idx="7">
                  <c:v>327360</c:v>
                </c:pt>
                <c:pt idx="8">
                  <c:v>396677</c:v>
                </c:pt>
                <c:pt idx="9">
                  <c:v>464662</c:v>
                </c:pt>
                <c:pt idx="10">
                  <c:v>351821</c:v>
                </c:pt>
                <c:pt idx="11">
                  <c:v>374670</c:v>
                </c:pt>
                <c:pt idx="12">
                  <c:v>821065</c:v>
                </c:pt>
                <c:pt idx="13">
                  <c:v>628512</c:v>
                </c:pt>
                <c:pt idx="14">
                  <c:v>523915</c:v>
                </c:pt>
                <c:pt idx="15">
                  <c:v>348953</c:v>
                </c:pt>
                <c:pt idx="16">
                  <c:v>1058778</c:v>
                </c:pt>
                <c:pt idx="17">
                  <c:v>428627</c:v>
                </c:pt>
                <c:pt idx="18">
                  <c:v>74565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73-E740-AA13-A88BB5B85236}"/>
            </c:ext>
          </c:extLst>
        </c:ser>
        <c:ser>
          <c:idx val="1"/>
          <c:order val="1"/>
          <c:tx>
            <c:strRef>
              <c:f>'[3]Pivot Household Income'!$C$1</c:f>
              <c:strCache>
                <c:ptCount val="1"/>
                <c:pt idx="0">
                  <c:v>Non-family households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'[3]Pivot Household Income'!$A$2:$A$20</c:f>
              <c:strCache>
                <c:ptCount val="19"/>
                <c:pt idx="0">
                  <c:v>Negative/Nil income</c:v>
                </c:pt>
                <c:pt idx="1">
                  <c:v>$1-$149</c:v>
                </c:pt>
                <c:pt idx="2">
                  <c:v>$150-$299</c:v>
                </c:pt>
                <c:pt idx="3">
                  <c:v>$300-$399</c:v>
                </c:pt>
                <c:pt idx="4">
                  <c:v>$400-$499</c:v>
                </c:pt>
                <c:pt idx="5">
                  <c:v>$500-$649</c:v>
                </c:pt>
                <c:pt idx="6">
                  <c:v>$650-$799</c:v>
                </c:pt>
                <c:pt idx="7">
                  <c:v>$800-$999</c:v>
                </c:pt>
                <c:pt idx="8">
                  <c:v>$1,000-$1,249</c:v>
                </c:pt>
                <c:pt idx="9">
                  <c:v>$1,250-$1,499</c:v>
                </c:pt>
                <c:pt idx="10">
                  <c:v>$1,500-$1,749</c:v>
                </c:pt>
                <c:pt idx="11">
                  <c:v>$1,750-$1,999</c:v>
                </c:pt>
                <c:pt idx="12">
                  <c:v>$2,000-$2,499</c:v>
                </c:pt>
                <c:pt idx="13">
                  <c:v>$2,500-$2,999</c:v>
                </c:pt>
                <c:pt idx="14">
                  <c:v>$3,000-$3,499</c:v>
                </c:pt>
                <c:pt idx="15">
                  <c:v>$3,500-$3,999</c:v>
                </c:pt>
                <c:pt idx="16">
                  <c:v>$4,000 or more</c:v>
                </c:pt>
                <c:pt idx="17">
                  <c:v>Partial income stated</c:v>
                </c:pt>
                <c:pt idx="18">
                  <c:v>All incomes not stated</c:v>
                </c:pt>
              </c:strCache>
            </c:strRef>
          </c:cat>
          <c:val>
            <c:numRef>
              <c:f>'[3]Pivot Household Income'!$C$2:$C$20</c:f>
              <c:numCache>
                <c:formatCode>General</c:formatCode>
                <c:ptCount val="19"/>
                <c:pt idx="0">
                  <c:v>95101</c:v>
                </c:pt>
                <c:pt idx="1">
                  <c:v>32637</c:v>
                </c:pt>
                <c:pt idx="2">
                  <c:v>82521</c:v>
                </c:pt>
                <c:pt idx="3">
                  <c:v>168747</c:v>
                </c:pt>
                <c:pt idx="4">
                  <c:v>405808</c:v>
                </c:pt>
                <c:pt idx="5">
                  <c:v>259347</c:v>
                </c:pt>
                <c:pt idx="6">
                  <c:v>176796</c:v>
                </c:pt>
                <c:pt idx="7">
                  <c:v>222085</c:v>
                </c:pt>
                <c:pt idx="8">
                  <c:v>239892</c:v>
                </c:pt>
                <c:pt idx="9">
                  <c:v>191480</c:v>
                </c:pt>
                <c:pt idx="10">
                  <c:v>165338</c:v>
                </c:pt>
                <c:pt idx="11">
                  <c:v>130683</c:v>
                </c:pt>
                <c:pt idx="12">
                  <c:v>222654</c:v>
                </c:pt>
                <c:pt idx="13">
                  <c:v>33759</c:v>
                </c:pt>
                <c:pt idx="14">
                  <c:v>58418</c:v>
                </c:pt>
                <c:pt idx="15">
                  <c:v>14746</c:v>
                </c:pt>
                <c:pt idx="16">
                  <c:v>93846</c:v>
                </c:pt>
                <c:pt idx="17">
                  <c:v>51842</c:v>
                </c:pt>
                <c:pt idx="18">
                  <c:v>86874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73-E740-AA13-A88BB5B852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Income Range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Households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Histogram - Couple family with children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'[4]Family Income Histogram Data'!$C$1</c:f>
              <c:strCache>
                <c:ptCount val="1"/>
                <c:pt idx="0">
                  <c:v>Couple family with children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'[4]Family Income Histogram Data'!$A$2:$A$6</c:f>
              <c:strCache>
                <c:ptCount val="5"/>
                <c:pt idx="0">
                  <c:v>0-999</c:v>
                </c:pt>
                <c:pt idx="1">
                  <c:v>1000-1999</c:v>
                </c:pt>
                <c:pt idx="2">
                  <c:v>2000-2999</c:v>
                </c:pt>
                <c:pt idx="3">
                  <c:v>3000-3999</c:v>
                </c:pt>
                <c:pt idx="4">
                  <c:v>4000+</c:v>
                </c:pt>
              </c:strCache>
            </c:strRef>
          </c:cat>
          <c:val>
            <c:numRef>
              <c:f>'[4]Family Income Histogram Data'!$C$2:$C$6</c:f>
              <c:numCache>
                <c:formatCode>General</c:formatCode>
                <c:ptCount val="5"/>
                <c:pt idx="0">
                  <c:v>146592</c:v>
                </c:pt>
                <c:pt idx="1">
                  <c:v>578048</c:v>
                </c:pt>
                <c:pt idx="2">
                  <c:v>744585</c:v>
                </c:pt>
                <c:pt idx="3">
                  <c:v>521628</c:v>
                </c:pt>
                <c:pt idx="4">
                  <c:v>684691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A1-C147-9F19-FAA6842F5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Weekly Income Range ($)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Families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Histogram - Other family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'[4]Family Income Histogram Data'!$E$1</c:f>
              <c:strCache>
                <c:ptCount val="1"/>
                <c:pt idx="0">
                  <c:v>Other family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'[4]Family Income Histogram Data'!$A$2:$A$6</c:f>
              <c:strCache>
                <c:ptCount val="5"/>
                <c:pt idx="0">
                  <c:v>0-999</c:v>
                </c:pt>
                <c:pt idx="1">
                  <c:v>1000-1999</c:v>
                </c:pt>
                <c:pt idx="2">
                  <c:v>2000-2999</c:v>
                </c:pt>
                <c:pt idx="3">
                  <c:v>3000-3999</c:v>
                </c:pt>
                <c:pt idx="4">
                  <c:v>4000+</c:v>
                </c:pt>
              </c:strCache>
            </c:strRef>
          </c:cat>
          <c:val>
            <c:numRef>
              <c:f>'[4]Family Income Histogram Data'!$E$2:$E$6</c:f>
              <c:numCache>
                <c:formatCode>General</c:formatCode>
                <c:ptCount val="5"/>
                <c:pt idx="0">
                  <c:v>26256</c:v>
                </c:pt>
                <c:pt idx="1">
                  <c:v>39769</c:v>
                </c:pt>
                <c:pt idx="2">
                  <c:v>22473</c:v>
                </c:pt>
                <c:pt idx="3">
                  <c:v>7360</c:v>
                </c:pt>
                <c:pt idx="4">
                  <c:v>4490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6F-6446-B77A-82F5161AE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Weekly Income Range ($)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Families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Histogram - Couple family with no children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'[4]Family Income Histogram Data'!$B$1</c:f>
              <c:strCache>
                <c:ptCount val="1"/>
                <c:pt idx="0">
                  <c:v>Couple family with no children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'[4]Family Income Histogram Data'!$A$2:$A$6</c:f>
              <c:strCache>
                <c:ptCount val="5"/>
                <c:pt idx="0">
                  <c:v>0-999</c:v>
                </c:pt>
                <c:pt idx="1">
                  <c:v>1000-1999</c:v>
                </c:pt>
                <c:pt idx="2">
                  <c:v>2000-2999</c:v>
                </c:pt>
                <c:pt idx="3">
                  <c:v>3000-3999</c:v>
                </c:pt>
                <c:pt idx="4">
                  <c:v>4000+</c:v>
                </c:pt>
              </c:strCache>
            </c:strRef>
          </c:cat>
          <c:val>
            <c:numRef>
              <c:f>'[4]Family Income Histogram Data'!$B$2:$B$6</c:f>
              <c:numCache>
                <c:formatCode>General</c:formatCode>
                <c:ptCount val="5"/>
                <c:pt idx="0">
                  <c:v>600798</c:v>
                </c:pt>
                <c:pt idx="1">
                  <c:v>703058</c:v>
                </c:pt>
                <c:pt idx="2">
                  <c:v>549006</c:v>
                </c:pt>
                <c:pt idx="3">
                  <c:v>276721</c:v>
                </c:pt>
                <c:pt idx="4">
                  <c:v>271396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E-4D4B-9EC0-251A8683F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Weekly Income Range ($)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Families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Histogram - One parent family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'[4]Family Income Histogram Data'!$D$1</c:f>
              <c:strCache>
                <c:ptCount val="1"/>
                <c:pt idx="0">
                  <c:v>One parent family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'[4]Family Income Histogram Data'!$A$2:$A$6</c:f>
              <c:strCache>
                <c:ptCount val="5"/>
                <c:pt idx="0">
                  <c:v>0-999</c:v>
                </c:pt>
                <c:pt idx="1">
                  <c:v>1000-1999</c:v>
                </c:pt>
                <c:pt idx="2">
                  <c:v>2000-2999</c:v>
                </c:pt>
                <c:pt idx="3">
                  <c:v>3000-3999</c:v>
                </c:pt>
                <c:pt idx="4">
                  <c:v>4000+</c:v>
                </c:pt>
              </c:strCache>
            </c:strRef>
          </c:cat>
          <c:val>
            <c:numRef>
              <c:f>'[4]Family Income Histogram Data'!$D$2:$D$6</c:f>
              <c:numCache>
                <c:formatCode>General</c:formatCode>
                <c:ptCount val="5"/>
                <c:pt idx="0">
                  <c:v>358617</c:v>
                </c:pt>
                <c:pt idx="1">
                  <c:v>363913</c:v>
                </c:pt>
                <c:pt idx="2">
                  <c:v>154049</c:v>
                </c:pt>
                <c:pt idx="3">
                  <c:v>44341</c:v>
                </c:pt>
                <c:pt idx="4">
                  <c:v>37243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7-8A46-A572-EF87E95682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Weekly Income Range ($)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Families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Male Employment Trends (1971-2021)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'[5]Male Employment Trends'!$B$1</c:f>
              <c:strCache>
                <c:ptCount val="1"/>
                <c:pt idx="0">
                  <c:v>1971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'[5]Male Employment Trends'!$B$2:$B$14</c:f>
              <c:numCache>
                <c:formatCode>General</c:formatCode>
                <c:ptCount val="13"/>
                <c:pt idx="0">
                  <c:v>0.53400000000000003</c:v>
                </c:pt>
                <c:pt idx="1">
                  <c:v>0.877</c:v>
                </c:pt>
                <c:pt idx="2">
                  <c:v>0.93799999999999994</c:v>
                </c:pt>
                <c:pt idx="3">
                  <c:v>0.94499999999999995</c:v>
                </c:pt>
                <c:pt idx="4">
                  <c:v>0.94499999999999995</c:v>
                </c:pt>
                <c:pt idx="5">
                  <c:v>0.94199999999999995</c:v>
                </c:pt>
                <c:pt idx="6">
                  <c:v>0.93200000000000005</c:v>
                </c:pt>
                <c:pt idx="7">
                  <c:v>0.91500000000000004</c:v>
                </c:pt>
                <c:pt idx="8">
                  <c:v>0.878</c:v>
                </c:pt>
                <c:pt idx="9">
                  <c:v>0.751</c:v>
                </c:pt>
                <c:pt idx="10">
                  <c:v>0.34799999999999998</c:v>
                </c:pt>
                <c:pt idx="11">
                  <c:v>0.186</c:v>
                </c:pt>
                <c:pt idx="12">
                  <c:v>8.6999999999999994E-2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A-EF49-8CEC-0C9A4A5A0929}"/>
            </c:ext>
          </c:extLst>
        </c:ser>
        <c:ser>
          <c:idx val="1"/>
          <c:order val="1"/>
          <c:tx>
            <c:strRef>
              <c:f>'[5]Male Employment Trends'!$C$1</c:f>
              <c:strCache>
                <c:ptCount val="1"/>
                <c:pt idx="0">
                  <c:v>2001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'[5]Male Employment Trends'!$C$2:$C$14</c:f>
              <c:numCache>
                <c:formatCode>General</c:formatCode>
                <c:ptCount val="13"/>
                <c:pt idx="0">
                  <c:v>0.39800000000000002</c:v>
                </c:pt>
                <c:pt idx="1">
                  <c:v>0.69499999999999995</c:v>
                </c:pt>
                <c:pt idx="2">
                  <c:v>0.78599999999999992</c:v>
                </c:pt>
                <c:pt idx="3">
                  <c:v>0.81400000000000006</c:v>
                </c:pt>
                <c:pt idx="4">
                  <c:v>0.81599999999999995</c:v>
                </c:pt>
                <c:pt idx="5">
                  <c:v>0.81799999999999995</c:v>
                </c:pt>
                <c:pt idx="6">
                  <c:v>0.80799999999999994</c:v>
                </c:pt>
                <c:pt idx="7">
                  <c:v>0.77200000000000002</c:v>
                </c:pt>
                <c:pt idx="8">
                  <c:v>0.65500000000000003</c:v>
                </c:pt>
                <c:pt idx="9">
                  <c:v>0.44299999999999989</c:v>
                </c:pt>
                <c:pt idx="10">
                  <c:v>0.189</c:v>
                </c:pt>
                <c:pt idx="11">
                  <c:v>9.5000000000000001E-2</c:v>
                </c:pt>
                <c:pt idx="12">
                  <c:v>4.7E-2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1A-EF49-8CEC-0C9A4A5A0929}"/>
            </c:ext>
          </c:extLst>
        </c:ser>
        <c:ser>
          <c:idx val="2"/>
          <c:order val="2"/>
          <c:tx>
            <c:strRef>
              <c:f>'[5]Male Employment Trends'!$D$1</c:f>
              <c:strCache>
                <c:ptCount val="1"/>
                <c:pt idx="0">
                  <c:v>2021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'[5]Male Employment Trends'!$D$2:$D$14</c:f>
              <c:numCache>
                <c:formatCode>General</c:formatCode>
                <c:ptCount val="13"/>
                <c:pt idx="0">
                  <c:v>0.40300000000000002</c:v>
                </c:pt>
                <c:pt idx="1">
                  <c:v>0.68700000000000006</c:v>
                </c:pt>
                <c:pt idx="2">
                  <c:v>0.76500000000000001</c:v>
                </c:pt>
                <c:pt idx="3">
                  <c:v>0.80099999999999993</c:v>
                </c:pt>
                <c:pt idx="4">
                  <c:v>0.81400000000000006</c:v>
                </c:pt>
                <c:pt idx="5">
                  <c:v>0.80599999999999994</c:v>
                </c:pt>
                <c:pt idx="6">
                  <c:v>0.79299999999999993</c:v>
                </c:pt>
                <c:pt idx="7">
                  <c:v>0.77</c:v>
                </c:pt>
                <c:pt idx="8">
                  <c:v>0.72</c:v>
                </c:pt>
                <c:pt idx="9">
                  <c:v>0.58499999999999996</c:v>
                </c:pt>
                <c:pt idx="10">
                  <c:v>0.33400000000000002</c:v>
                </c:pt>
                <c:pt idx="11">
                  <c:v>0.159</c:v>
                </c:pt>
                <c:pt idx="12">
                  <c:v>5.8999999999999997E-2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1A-EF49-8CEC-0C9A4A5A09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Age Group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Proportion Employed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Female Employment Trends (1971-2021)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'[5]Female Employment Trends'!$B$1</c:f>
              <c:strCache>
                <c:ptCount val="1"/>
                <c:pt idx="0">
                  <c:v>1971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'[5]Female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'[5]Female Employment Trends'!$B$2:$B$14</c:f>
              <c:numCache>
                <c:formatCode>General</c:formatCode>
                <c:ptCount val="13"/>
                <c:pt idx="0">
                  <c:v>0.499</c:v>
                </c:pt>
                <c:pt idx="1">
                  <c:v>0.57299999999999995</c:v>
                </c:pt>
                <c:pt idx="2">
                  <c:v>0.38300000000000001</c:v>
                </c:pt>
                <c:pt idx="3">
                  <c:v>0.379</c:v>
                </c:pt>
                <c:pt idx="4">
                  <c:v>0.43</c:v>
                </c:pt>
                <c:pt idx="5">
                  <c:v>0.44900000000000001</c:v>
                </c:pt>
                <c:pt idx="6">
                  <c:v>0.42699999999999999</c:v>
                </c:pt>
                <c:pt idx="7">
                  <c:v>0.36099999999999999</c:v>
                </c:pt>
                <c:pt idx="8">
                  <c:v>0.28199999999999997</c:v>
                </c:pt>
                <c:pt idx="9">
                  <c:v>0.159</c:v>
                </c:pt>
                <c:pt idx="10">
                  <c:v>7.5840446600128758E-2</c:v>
                </c:pt>
                <c:pt idx="11">
                  <c:v>3.6204699677008317E-2</c:v>
                </c:pt>
                <c:pt idx="12">
                  <c:v>1.4989467520109309E-2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89-DF42-B7A8-FDAA3C41095C}"/>
            </c:ext>
          </c:extLst>
        </c:ser>
        <c:ser>
          <c:idx val="1"/>
          <c:order val="1"/>
          <c:tx>
            <c:strRef>
              <c:f>'[5]Female Employment Trends'!$C$1</c:f>
              <c:strCache>
                <c:ptCount val="1"/>
                <c:pt idx="0">
                  <c:v>2001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'[5]Female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'[5]Female Employment Trends'!$C$2:$C$14</c:f>
              <c:numCache>
                <c:formatCode>General</c:formatCode>
                <c:ptCount val="13"/>
                <c:pt idx="0">
                  <c:v>0.433</c:v>
                </c:pt>
                <c:pt idx="1">
                  <c:v>0.66200000000000003</c:v>
                </c:pt>
                <c:pt idx="2">
                  <c:v>0.66299999999999992</c:v>
                </c:pt>
                <c:pt idx="3">
                  <c:v>0.61299999999999999</c:v>
                </c:pt>
                <c:pt idx="4">
                  <c:v>0.627</c:v>
                </c:pt>
                <c:pt idx="5">
                  <c:v>0.68599999999999994</c:v>
                </c:pt>
                <c:pt idx="6">
                  <c:v>0.7</c:v>
                </c:pt>
                <c:pt idx="7">
                  <c:v>0.63200000000000001</c:v>
                </c:pt>
                <c:pt idx="8">
                  <c:v>0.46300000000000002</c:v>
                </c:pt>
                <c:pt idx="9">
                  <c:v>0.22900000000000001</c:v>
                </c:pt>
                <c:pt idx="10">
                  <c:v>8.8000000000000009E-2</c:v>
                </c:pt>
                <c:pt idx="11">
                  <c:v>3.9E-2</c:v>
                </c:pt>
                <c:pt idx="12">
                  <c:v>1.7000000000000001E-2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89-DF42-B7A8-FDAA3C41095C}"/>
            </c:ext>
          </c:extLst>
        </c:ser>
        <c:ser>
          <c:idx val="2"/>
          <c:order val="2"/>
          <c:tx>
            <c:strRef>
              <c:f>'[5]Female Employment Trends'!$D$1</c:f>
              <c:strCache>
                <c:ptCount val="1"/>
                <c:pt idx="0">
                  <c:v>2021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strRef>
              <c:f>'[5]Female Employment Trends'!$A$2:$A$14</c:f>
              <c:strCache>
                <c:ptCount val="13"/>
                <c:pt idx="0">
                  <c:v>15 - 19 years</c:v>
                </c:pt>
                <c:pt idx="1">
                  <c:v>20 - 24 years</c:v>
                </c:pt>
                <c:pt idx="2">
                  <c:v>25 - 29 years</c:v>
                </c:pt>
                <c:pt idx="3">
                  <c:v>30 - 34 years</c:v>
                </c:pt>
                <c:pt idx="4">
                  <c:v>35 - 39 years</c:v>
                </c:pt>
                <c:pt idx="5">
                  <c:v>40 - 44 years</c:v>
                </c:pt>
                <c:pt idx="6">
                  <c:v>45 - 49 years</c:v>
                </c:pt>
                <c:pt idx="7">
                  <c:v>50 - 54 years</c:v>
                </c:pt>
                <c:pt idx="8">
                  <c:v>55 - 59 years</c:v>
                </c:pt>
                <c:pt idx="9">
                  <c:v>60 - 64 years</c:v>
                </c:pt>
                <c:pt idx="10">
                  <c:v>65 - 69 years</c:v>
                </c:pt>
                <c:pt idx="11">
                  <c:v>70 - 74 years</c:v>
                </c:pt>
                <c:pt idx="12">
                  <c:v>75 years and over</c:v>
                </c:pt>
              </c:strCache>
            </c:strRef>
          </c:cat>
          <c:val>
            <c:numRef>
              <c:f>'[5]Female Employment Trends'!$D$2:$D$14</c:f>
              <c:numCache>
                <c:formatCode>General</c:formatCode>
                <c:ptCount val="13"/>
                <c:pt idx="0">
                  <c:v>0.45600000000000002</c:v>
                </c:pt>
                <c:pt idx="1">
                  <c:v>0.70299999999999996</c:v>
                </c:pt>
                <c:pt idx="2">
                  <c:v>0.73499999999999999</c:v>
                </c:pt>
                <c:pt idx="3">
                  <c:v>0.72299999999999998</c:v>
                </c:pt>
                <c:pt idx="4">
                  <c:v>0.72799999999999998</c:v>
                </c:pt>
                <c:pt idx="5">
                  <c:v>0.74299999999999999</c:v>
                </c:pt>
                <c:pt idx="6">
                  <c:v>0.748</c:v>
                </c:pt>
                <c:pt idx="7">
                  <c:v>0.72400000000000009</c:v>
                </c:pt>
                <c:pt idx="8">
                  <c:v>0.65</c:v>
                </c:pt>
                <c:pt idx="9">
                  <c:v>0.48899999999999999</c:v>
                </c:pt>
                <c:pt idx="10">
                  <c:v>0.24</c:v>
                </c:pt>
                <c:pt idx="11">
                  <c:v>9.6000000000000002E-2</c:v>
                </c:pt>
                <c:pt idx="12">
                  <c:v>2.3E-2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89-DF42-B7A8-FDAA3C410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Age Group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Proportion Employed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Employed by Work Type and State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'[6]Employed Summary'!$B$1</c:f>
              <c:strCache>
                <c:ptCount val="1"/>
                <c:pt idx="0">
                  <c:v>New South Wales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Summary'!$B$2:$B$11</c:f>
              <c:numCache>
                <c:formatCode>General</c:formatCode>
                <c:ptCount val="10"/>
                <c:pt idx="0">
                  <c:v>1270667</c:v>
                </c:pt>
                <c:pt idx="1">
                  <c:v>432000</c:v>
                </c:pt>
                <c:pt idx="2">
                  <c:v>156029</c:v>
                </c:pt>
                <c:pt idx="3">
                  <c:v>37137</c:v>
                </c:pt>
                <c:pt idx="4">
                  <c:v>1034509</c:v>
                </c:pt>
                <c:pt idx="5">
                  <c:v>865942</c:v>
                </c:pt>
                <c:pt idx="6">
                  <c:v>719663</c:v>
                </c:pt>
                <c:pt idx="7">
                  <c:v>175586</c:v>
                </c:pt>
                <c:pt idx="8">
                  <c:v>27143</c:v>
                </c:pt>
                <c:pt idx="9">
                  <c:v>1306903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8-EA4D-A8C6-0287A213FF4F}"/>
            </c:ext>
          </c:extLst>
        </c:ser>
        <c:ser>
          <c:idx val="1"/>
          <c:order val="1"/>
          <c:tx>
            <c:strRef>
              <c:f>'[6]Employed Summary'!$C$1</c:f>
              <c:strCache>
                <c:ptCount val="1"/>
                <c:pt idx="0">
                  <c:v>Victoria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Summary'!$C$2:$C$11</c:f>
              <c:numCache>
                <c:formatCode>General</c:formatCode>
                <c:ptCount val="10"/>
                <c:pt idx="0">
                  <c:v>1166712</c:v>
                </c:pt>
                <c:pt idx="1">
                  <c:v>378143</c:v>
                </c:pt>
                <c:pt idx="2">
                  <c:v>62362</c:v>
                </c:pt>
                <c:pt idx="3">
                  <c:v>31405</c:v>
                </c:pt>
                <c:pt idx="4">
                  <c:v>729584</c:v>
                </c:pt>
                <c:pt idx="5">
                  <c:v>704564</c:v>
                </c:pt>
                <c:pt idx="6">
                  <c:v>698602</c:v>
                </c:pt>
                <c:pt idx="7">
                  <c:v>98229</c:v>
                </c:pt>
                <c:pt idx="8">
                  <c:v>22874</c:v>
                </c:pt>
                <c:pt idx="9">
                  <c:v>990067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08-EA4D-A8C6-0287A213FF4F}"/>
            </c:ext>
          </c:extLst>
        </c:ser>
        <c:ser>
          <c:idx val="2"/>
          <c:order val="2"/>
          <c:tx>
            <c:strRef>
              <c:f>'[6]Employed Summary'!$D$1</c:f>
              <c:strCache>
                <c:ptCount val="1"/>
                <c:pt idx="0">
                  <c:v>Queensland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Summary'!$D$2:$D$11</c:f>
              <c:numCache>
                <c:formatCode>General</c:formatCode>
                <c:ptCount val="10"/>
                <c:pt idx="0">
                  <c:v>880247</c:v>
                </c:pt>
                <c:pt idx="1">
                  <c:v>270028</c:v>
                </c:pt>
                <c:pt idx="2">
                  <c:v>67248</c:v>
                </c:pt>
                <c:pt idx="3">
                  <c:v>24162</c:v>
                </c:pt>
                <c:pt idx="4">
                  <c:v>586114</c:v>
                </c:pt>
                <c:pt idx="5">
                  <c:v>562205</c:v>
                </c:pt>
                <c:pt idx="6">
                  <c:v>516914</c:v>
                </c:pt>
                <c:pt idx="7">
                  <c:v>104593</c:v>
                </c:pt>
                <c:pt idx="8">
                  <c:v>18699</c:v>
                </c:pt>
                <c:pt idx="9">
                  <c:v>754104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08-EA4D-A8C6-0287A213FF4F}"/>
            </c:ext>
          </c:extLst>
        </c:ser>
        <c:ser>
          <c:idx val="3"/>
          <c:order val="3"/>
          <c:tx>
            <c:strRef>
              <c:f>'[6]Employed Summary'!$E$1</c:f>
              <c:strCache>
                <c:ptCount val="1"/>
                <c:pt idx="0">
                  <c:v>South Australia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Summary'!$E$2:$E$11</c:f>
              <c:numCache>
                <c:formatCode>General</c:formatCode>
                <c:ptCount val="10"/>
                <c:pt idx="0">
                  <c:v>302907</c:v>
                </c:pt>
                <c:pt idx="1">
                  <c:v>106713</c:v>
                </c:pt>
                <c:pt idx="2">
                  <c:v>14918</c:v>
                </c:pt>
                <c:pt idx="3">
                  <c:v>7066</c:v>
                </c:pt>
                <c:pt idx="4">
                  <c:v>230183</c:v>
                </c:pt>
                <c:pt idx="5">
                  <c:v>177195</c:v>
                </c:pt>
                <c:pt idx="6">
                  <c:v>203951</c:v>
                </c:pt>
                <c:pt idx="7">
                  <c:v>21362</c:v>
                </c:pt>
                <c:pt idx="8">
                  <c:v>5301</c:v>
                </c:pt>
                <c:pt idx="9">
                  <c:v>294257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08-EA4D-A8C6-0287A213FF4F}"/>
            </c:ext>
          </c:extLst>
        </c:ser>
        <c:ser>
          <c:idx val="4"/>
          <c:order val="4"/>
          <c:tx>
            <c:strRef>
              <c:f>'[6]Employed Summary'!$F$1</c:f>
              <c:strCache>
                <c:ptCount val="1"/>
                <c:pt idx="0">
                  <c:v>Western  Australia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Summary'!$F$2:$F$11</c:f>
              <c:numCache>
                <c:formatCode>General</c:formatCode>
                <c:ptCount val="10"/>
                <c:pt idx="0">
                  <c:v>500048</c:v>
                </c:pt>
                <c:pt idx="1">
                  <c:v>141935</c:v>
                </c:pt>
                <c:pt idx="2">
                  <c:v>27081</c:v>
                </c:pt>
                <c:pt idx="3">
                  <c:v>12463</c:v>
                </c:pt>
                <c:pt idx="4">
                  <c:v>268572</c:v>
                </c:pt>
                <c:pt idx="5">
                  <c:v>286299</c:v>
                </c:pt>
                <c:pt idx="6">
                  <c:v>298053</c:v>
                </c:pt>
                <c:pt idx="7">
                  <c:v>31515</c:v>
                </c:pt>
                <c:pt idx="8">
                  <c:v>8859</c:v>
                </c:pt>
                <c:pt idx="9">
                  <c:v>373268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08-EA4D-A8C6-0287A213FF4F}"/>
            </c:ext>
          </c:extLst>
        </c:ser>
        <c:ser>
          <c:idx val="5"/>
          <c:order val="5"/>
          <c:tx>
            <c:strRef>
              <c:f>'[6]Employed Summary'!$G$1</c:f>
              <c:strCache>
                <c:ptCount val="1"/>
                <c:pt idx="0">
                  <c:v>Tasmania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Summary'!$G$2:$G$11</c:f>
              <c:numCache>
                <c:formatCode>General</c:formatCode>
                <c:ptCount val="10"/>
                <c:pt idx="0">
                  <c:v>88353</c:v>
                </c:pt>
                <c:pt idx="1">
                  <c:v>33855</c:v>
                </c:pt>
                <c:pt idx="2">
                  <c:v>4980</c:v>
                </c:pt>
                <c:pt idx="3">
                  <c:v>2437</c:v>
                </c:pt>
                <c:pt idx="4">
                  <c:v>75493</c:v>
                </c:pt>
                <c:pt idx="5">
                  <c:v>51500</c:v>
                </c:pt>
                <c:pt idx="6">
                  <c:v>64739</c:v>
                </c:pt>
                <c:pt idx="7">
                  <c:v>7028</c:v>
                </c:pt>
                <c:pt idx="8">
                  <c:v>1827</c:v>
                </c:pt>
                <c:pt idx="9">
                  <c:v>94370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A08-EA4D-A8C6-0287A213FF4F}"/>
            </c:ext>
          </c:extLst>
        </c:ser>
        <c:ser>
          <c:idx val="6"/>
          <c:order val="6"/>
          <c:tx>
            <c:strRef>
              <c:f>'[6]Employed Summary'!$H$1</c:f>
              <c:strCache>
                <c:ptCount val="1"/>
                <c:pt idx="0">
                  <c:v>Northern Territory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Summary'!$H$2:$H$11</c:f>
              <c:numCache>
                <c:formatCode>General</c:formatCode>
                <c:ptCount val="10"/>
                <c:pt idx="0">
                  <c:v>41256</c:v>
                </c:pt>
                <c:pt idx="1">
                  <c:v>9661</c:v>
                </c:pt>
                <c:pt idx="2">
                  <c:v>2291</c:v>
                </c:pt>
                <c:pt idx="3">
                  <c:v>1312</c:v>
                </c:pt>
                <c:pt idx="4">
                  <c:v>24574</c:v>
                </c:pt>
                <c:pt idx="5">
                  <c:v>32269</c:v>
                </c:pt>
                <c:pt idx="6">
                  <c:v>16198</c:v>
                </c:pt>
                <c:pt idx="7">
                  <c:v>3028</c:v>
                </c:pt>
                <c:pt idx="8">
                  <c:v>1009</c:v>
                </c:pt>
                <c:pt idx="9">
                  <c:v>27472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08-EA4D-A8C6-0287A213FF4F}"/>
            </c:ext>
          </c:extLst>
        </c:ser>
        <c:ser>
          <c:idx val="7"/>
          <c:order val="7"/>
          <c:tx>
            <c:strRef>
              <c:f>'[6]Employed Summary'!$I$1</c:f>
              <c:strCache>
                <c:ptCount val="1"/>
                <c:pt idx="0">
                  <c:v>Australian  Capital Territory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Summary'!$I$2:$I$11</c:f>
              <c:numCache>
                <c:formatCode>General</c:formatCode>
                <c:ptCount val="10"/>
                <c:pt idx="0">
                  <c:v>93042</c:v>
                </c:pt>
                <c:pt idx="1">
                  <c:v>26924</c:v>
                </c:pt>
                <c:pt idx="2">
                  <c:v>4128</c:v>
                </c:pt>
                <c:pt idx="3">
                  <c:v>1563</c:v>
                </c:pt>
                <c:pt idx="4">
                  <c:v>42435</c:v>
                </c:pt>
                <c:pt idx="5">
                  <c:v>70539</c:v>
                </c:pt>
                <c:pt idx="6">
                  <c:v>44461</c:v>
                </c:pt>
                <c:pt idx="7">
                  <c:v>6875</c:v>
                </c:pt>
                <c:pt idx="8">
                  <c:v>1076</c:v>
                </c:pt>
                <c:pt idx="9">
                  <c:v>55096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08-EA4D-A8C6-0287A213FF4F}"/>
            </c:ext>
          </c:extLst>
        </c:ser>
        <c:ser>
          <c:idx val="8"/>
          <c:order val="8"/>
          <c:tx>
            <c:strRef>
              <c:f>'[6]Employed Summary'!$J$1</c:f>
              <c:strCache>
                <c:ptCount val="1"/>
                <c:pt idx="0">
                  <c:v>Australia(b)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'[6]Employed Summary'!$A$2:$A$11</c:f>
              <c:strCache>
                <c:ptCount val="10"/>
                <c:pt idx="0">
                  <c:v>Full-time(c)</c:v>
                </c:pt>
                <c:pt idx="1">
                  <c:v>Part-time</c:v>
                </c:pt>
                <c:pt idx="2">
                  <c:v>Employed, away from work(d)</c:v>
                </c:pt>
                <c:pt idx="3">
                  <c:v>Employed, hours of work not stated</c:v>
                </c:pt>
                <c:pt idx="4">
                  <c:v>Not in the labour force</c:v>
                </c:pt>
                <c:pt idx="5">
                  <c:v>Full-time(c)</c:v>
                </c:pt>
                <c:pt idx="6">
                  <c:v>Part-time</c:v>
                </c:pt>
                <c:pt idx="7">
                  <c:v>Employed, away from work(d)</c:v>
                </c:pt>
                <c:pt idx="8">
                  <c:v>Employed, hours of work not stated</c:v>
                </c:pt>
                <c:pt idx="9">
                  <c:v>Not in the labour force</c:v>
                </c:pt>
              </c:strCache>
            </c:strRef>
          </c:cat>
          <c:val>
            <c:numRef>
              <c:f>'[6]Employed Summary'!$J$2:$J$11</c:f>
              <c:numCache>
                <c:formatCode>General</c:formatCode>
                <c:ptCount val="10"/>
                <c:pt idx="0">
                  <c:v>4344050</c:v>
                </c:pt>
                <c:pt idx="1">
                  <c:v>1399494</c:v>
                </c:pt>
                <c:pt idx="2">
                  <c:v>339094</c:v>
                </c:pt>
                <c:pt idx="3">
                  <c:v>117574</c:v>
                </c:pt>
                <c:pt idx="4">
                  <c:v>2992063</c:v>
                </c:pt>
                <c:pt idx="5">
                  <c:v>2751050</c:v>
                </c:pt>
                <c:pt idx="6">
                  <c:v>2563058</c:v>
                </c:pt>
                <c:pt idx="7">
                  <c:v>448291</c:v>
                </c:pt>
                <c:pt idx="8">
                  <c:v>86805</c:v>
                </c:pt>
                <c:pt idx="9">
                  <c:v>3896023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08-EA4D-A8C6-0287A213FF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States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Unemployed by Work Type and State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'[6]Unemployed Summary'!$B$1</c:f>
              <c:strCache>
                <c:ptCount val="1"/>
                <c:pt idx="0">
                  <c:v>New South Wales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Summary'!$B$2:$B$5</c:f>
              <c:numCache>
                <c:formatCode>General</c:formatCode>
                <c:ptCount val="4"/>
                <c:pt idx="0">
                  <c:v>69025</c:v>
                </c:pt>
                <c:pt idx="1">
                  <c:v>36092</c:v>
                </c:pt>
                <c:pt idx="2">
                  <c:v>38814</c:v>
                </c:pt>
                <c:pt idx="3">
                  <c:v>45919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39-0B45-82F5-5511261E0292}"/>
            </c:ext>
          </c:extLst>
        </c:ser>
        <c:ser>
          <c:idx val="1"/>
          <c:order val="1"/>
          <c:tx>
            <c:strRef>
              <c:f>'[6]Unemployed Summary'!$C$1</c:f>
              <c:strCache>
                <c:ptCount val="1"/>
                <c:pt idx="0">
                  <c:v>Victoria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Summary'!$C$2:$C$5</c:f>
              <c:numCache>
                <c:formatCode>General</c:formatCode>
                <c:ptCount val="4"/>
                <c:pt idx="0">
                  <c:v>54468</c:v>
                </c:pt>
                <c:pt idx="1">
                  <c:v>35138</c:v>
                </c:pt>
                <c:pt idx="2">
                  <c:v>31673</c:v>
                </c:pt>
                <c:pt idx="3">
                  <c:v>46389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39-0B45-82F5-5511261E0292}"/>
            </c:ext>
          </c:extLst>
        </c:ser>
        <c:ser>
          <c:idx val="2"/>
          <c:order val="2"/>
          <c:tx>
            <c:strRef>
              <c:f>'[6]Unemployed Summary'!$D$1</c:f>
              <c:strCache>
                <c:ptCount val="1"/>
                <c:pt idx="0">
                  <c:v>Queensland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Summary'!$D$2:$D$5</c:f>
              <c:numCache>
                <c:formatCode>General</c:formatCode>
                <c:ptCount val="4"/>
                <c:pt idx="0">
                  <c:v>48355</c:v>
                </c:pt>
                <c:pt idx="1">
                  <c:v>26981</c:v>
                </c:pt>
                <c:pt idx="2">
                  <c:v>27951</c:v>
                </c:pt>
                <c:pt idx="3">
                  <c:v>35434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39-0B45-82F5-5511261E0292}"/>
            </c:ext>
          </c:extLst>
        </c:ser>
        <c:ser>
          <c:idx val="3"/>
          <c:order val="3"/>
          <c:tx>
            <c:strRef>
              <c:f>'[6]Unemployed Summary'!$E$1</c:f>
              <c:strCache>
                <c:ptCount val="1"/>
                <c:pt idx="0">
                  <c:v>South Australia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Summary'!$E$2:$E$5</c:f>
              <c:numCache>
                <c:formatCode>General</c:formatCode>
                <c:ptCount val="4"/>
                <c:pt idx="0">
                  <c:v>16810</c:v>
                </c:pt>
                <c:pt idx="1">
                  <c:v>9983</c:v>
                </c:pt>
                <c:pt idx="2">
                  <c:v>8663</c:v>
                </c:pt>
                <c:pt idx="3">
                  <c:v>12326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39-0B45-82F5-5511261E0292}"/>
            </c:ext>
          </c:extLst>
        </c:ser>
        <c:ser>
          <c:idx val="4"/>
          <c:order val="4"/>
          <c:tx>
            <c:strRef>
              <c:f>'[6]Unemployed Summary'!$F$1</c:f>
              <c:strCache>
                <c:ptCount val="1"/>
                <c:pt idx="0">
                  <c:v>Western  Australia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Summary'!$F$2:$F$5</c:f>
              <c:numCache>
                <c:formatCode>General</c:formatCode>
                <c:ptCount val="4"/>
                <c:pt idx="0">
                  <c:v>23436</c:v>
                </c:pt>
                <c:pt idx="1">
                  <c:v>13288</c:v>
                </c:pt>
                <c:pt idx="2">
                  <c:v>13385</c:v>
                </c:pt>
                <c:pt idx="3">
                  <c:v>19892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39-0B45-82F5-5511261E0292}"/>
            </c:ext>
          </c:extLst>
        </c:ser>
        <c:ser>
          <c:idx val="5"/>
          <c:order val="5"/>
          <c:tx>
            <c:strRef>
              <c:f>'[6]Unemployed Summary'!$G$1</c:f>
              <c:strCache>
                <c:ptCount val="1"/>
                <c:pt idx="0">
                  <c:v>Tasmania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Summary'!$G$2:$G$5</c:f>
              <c:numCache>
                <c:formatCode>General</c:formatCode>
                <c:ptCount val="4"/>
                <c:pt idx="0">
                  <c:v>5588</c:v>
                </c:pt>
                <c:pt idx="1">
                  <c:v>3232</c:v>
                </c:pt>
                <c:pt idx="2">
                  <c:v>3134</c:v>
                </c:pt>
                <c:pt idx="3">
                  <c:v>4109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B39-0B45-82F5-5511261E0292}"/>
            </c:ext>
          </c:extLst>
        </c:ser>
        <c:ser>
          <c:idx val="6"/>
          <c:order val="6"/>
          <c:tx>
            <c:strRef>
              <c:f>'[6]Unemployed Summary'!$H$1</c:f>
              <c:strCache>
                <c:ptCount val="1"/>
                <c:pt idx="0">
                  <c:v>Northern Territory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Summary'!$H$2:$H$5</c:f>
              <c:numCache>
                <c:formatCode>General</c:formatCode>
                <c:ptCount val="4"/>
                <c:pt idx="0">
                  <c:v>2397</c:v>
                </c:pt>
                <c:pt idx="1">
                  <c:v>1003</c:v>
                </c:pt>
                <c:pt idx="2">
                  <c:v>1734</c:v>
                </c:pt>
                <c:pt idx="3">
                  <c:v>1235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39-0B45-82F5-5511261E0292}"/>
            </c:ext>
          </c:extLst>
        </c:ser>
        <c:ser>
          <c:idx val="7"/>
          <c:order val="7"/>
          <c:tx>
            <c:strRef>
              <c:f>'[6]Unemployed Summary'!$I$1</c:f>
              <c:strCache>
                <c:ptCount val="1"/>
                <c:pt idx="0">
                  <c:v>Australian  Capital Territory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Summary'!$I$2:$I$5</c:f>
              <c:numCache>
                <c:formatCode>General</c:formatCode>
                <c:ptCount val="4"/>
                <c:pt idx="0">
                  <c:v>2937</c:v>
                </c:pt>
                <c:pt idx="1">
                  <c:v>2498</c:v>
                </c:pt>
                <c:pt idx="2">
                  <c:v>1800</c:v>
                </c:pt>
                <c:pt idx="3">
                  <c:v>2725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B39-0B45-82F5-5511261E0292}"/>
            </c:ext>
          </c:extLst>
        </c:ser>
        <c:ser>
          <c:idx val="8"/>
          <c:order val="8"/>
          <c:tx>
            <c:strRef>
              <c:f>'[6]Unemployed Summary'!$J$1</c:f>
              <c:strCache>
                <c:ptCount val="1"/>
                <c:pt idx="0">
                  <c:v>Australia(b)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'[6]Unemployed Summary'!$A$2:$A$5</c:f>
              <c:strCache>
                <c:ptCount val="4"/>
                <c:pt idx="0">
                  <c:v>Full-time work</c:v>
                </c:pt>
                <c:pt idx="1">
                  <c:v>Part-time work</c:v>
                </c:pt>
                <c:pt idx="2">
                  <c:v>Full-time work</c:v>
                </c:pt>
                <c:pt idx="3">
                  <c:v>Part-time work</c:v>
                </c:pt>
              </c:strCache>
            </c:strRef>
          </c:cat>
          <c:val>
            <c:numRef>
              <c:f>'[6]Unemployed Summary'!$J$2:$J$5</c:f>
              <c:numCache>
                <c:formatCode>General</c:formatCode>
                <c:ptCount val="4"/>
                <c:pt idx="0">
                  <c:v>223033</c:v>
                </c:pt>
                <c:pt idx="1">
                  <c:v>128215</c:v>
                </c:pt>
                <c:pt idx="2">
                  <c:v>127163</c:v>
                </c:pt>
                <c:pt idx="3">
                  <c:v>168036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39-0B45-82F5-5511261E0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States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Labour Force Status by Country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'[7]Labour Status by Country'!$B$1</c:f>
              <c:strCache>
                <c:ptCount val="1"/>
                <c:pt idx="0">
                  <c:v>Employed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'[7]Labour Status by Country'!$A$2</c:f>
              <c:strCache>
                <c:ptCount val="1"/>
                <c:pt idx="0">
                  <c:v>Not stated</c:v>
                </c:pt>
              </c:strCache>
            </c:strRef>
          </c:cat>
          <c:val>
            <c:numRef>
              <c:f>'[7]Labour Status by Country'!$B$2</c:f>
              <c:numCache>
                <c:formatCode>General</c:formatCode>
                <c:ptCount val="1"/>
                <c:pt idx="0">
                  <c:v>61786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13-A845-8090-458CDE5F0878}"/>
            </c:ext>
          </c:extLst>
        </c:ser>
        <c:ser>
          <c:idx val="1"/>
          <c:order val="1"/>
          <c:tx>
            <c:strRef>
              <c:f>'[7]Labour Status by Country'!$C$1</c:f>
              <c:strCache>
                <c:ptCount val="1"/>
                <c:pt idx="0">
                  <c:v>Unemployed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'[7]Labour Status by Country'!$A$2</c:f>
              <c:strCache>
                <c:ptCount val="1"/>
                <c:pt idx="0">
                  <c:v>Not stated</c:v>
                </c:pt>
              </c:strCache>
            </c:strRef>
          </c:cat>
          <c:val>
            <c:numRef>
              <c:f>'[7]Labour Status by Country'!$C$2</c:f>
              <c:numCache>
                <c:formatCode>General</c:formatCode>
                <c:ptCount val="1"/>
                <c:pt idx="0">
                  <c:v>4671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13-A845-8090-458CDE5F0878}"/>
            </c:ext>
          </c:extLst>
        </c:ser>
        <c:ser>
          <c:idx val="2"/>
          <c:order val="2"/>
          <c:tx>
            <c:strRef>
              <c:f>'[7]Labour Status by Country'!$D$1</c:f>
              <c:strCache>
                <c:ptCount val="1"/>
                <c:pt idx="0">
                  <c:v>Total In the labour force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'[7]Labour Status by Country'!$A$2</c:f>
              <c:strCache>
                <c:ptCount val="1"/>
                <c:pt idx="0">
                  <c:v>Not stated</c:v>
                </c:pt>
              </c:strCache>
            </c:strRef>
          </c:cat>
          <c:val>
            <c:numRef>
              <c:f>'[7]Labour Status by Country'!$D$2</c:f>
              <c:numCache>
                <c:formatCode>General</c:formatCode>
                <c:ptCount val="1"/>
                <c:pt idx="0">
                  <c:v>66461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13-A845-8090-458CDE5F0878}"/>
            </c:ext>
          </c:extLst>
        </c:ser>
        <c:ser>
          <c:idx val="3"/>
          <c:order val="3"/>
          <c:tx>
            <c:strRef>
              <c:f>'[7]Labour Status by Country'!$E$1</c:f>
              <c:strCache>
                <c:ptCount val="1"/>
                <c:pt idx="0">
                  <c:v>Not in labour force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'[7]Labour Status by Country'!$A$2</c:f>
              <c:strCache>
                <c:ptCount val="1"/>
                <c:pt idx="0">
                  <c:v>Not stated</c:v>
                </c:pt>
              </c:strCache>
            </c:strRef>
          </c:cat>
          <c:val>
            <c:numRef>
              <c:f>'[7]Labour Status by Country'!$E$2</c:f>
              <c:numCache>
                <c:formatCode>General</c:formatCode>
                <c:ptCount val="1"/>
                <c:pt idx="0">
                  <c:v>112250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13-A845-8090-458CDE5F0878}"/>
            </c:ext>
          </c:extLst>
        </c:ser>
        <c:ser>
          <c:idx val="4"/>
          <c:order val="4"/>
          <c:tx>
            <c:strRef>
              <c:f>'[7]Labour Status by Country'!$F$1</c:f>
              <c:strCache>
                <c:ptCount val="1"/>
                <c:pt idx="0">
                  <c:v>Not stated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'[7]Labour Status by Country'!$A$2</c:f>
              <c:strCache>
                <c:ptCount val="1"/>
                <c:pt idx="0">
                  <c:v>Not stated</c:v>
                </c:pt>
              </c:strCache>
            </c:strRef>
          </c:cat>
          <c:val>
            <c:numRef>
              <c:f>'[7]Labour Status by Country'!$F$2</c:f>
              <c:numCache>
                <c:formatCode>General</c:formatCode>
                <c:ptCount val="1"/>
                <c:pt idx="0">
                  <c:v>972765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13-A845-8090-458CDE5F0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Country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Employment by Industry and Gender (Australia)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'[8]Industry Employment (AUS)'!$B$1</c:f>
              <c:strCache>
                <c:ptCount val="1"/>
                <c:pt idx="0">
                  <c:v>Female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'[8]Industry Employment (AUS)'!$A$2:$A$22</c:f>
              <c:strCache>
                <c:ptCount val="21"/>
                <c:pt idx="0">
                  <c:v>Accommodation and Food Services</c:v>
                </c:pt>
                <c:pt idx="1">
                  <c:v>Administrative and Support Services</c:v>
                </c:pt>
                <c:pt idx="2">
                  <c:v>Agriculture, Forestry and Fishing</c:v>
                </c:pt>
                <c:pt idx="3">
                  <c:v>Arts and Recreation Services</c:v>
                </c:pt>
                <c:pt idx="4">
                  <c:v>Construction</c:v>
                </c:pt>
                <c:pt idx="5">
                  <c:v>Education and Training</c:v>
                </c:pt>
                <c:pt idx="6">
                  <c:v>Electricity, Gas, Water and Waste Services</c:v>
                </c:pt>
                <c:pt idx="7">
                  <c:v>Financial and Insurance Services</c:v>
                </c:pt>
                <c:pt idx="8">
                  <c:v>Health Care and Social Assistance</c:v>
                </c:pt>
                <c:pt idx="9">
                  <c:v>Inadequately described</c:v>
                </c:pt>
                <c:pt idx="10">
                  <c:v>Information Media and Telecommunications</c:v>
                </c:pt>
                <c:pt idx="11">
                  <c:v>Manufacturing</c:v>
                </c:pt>
                <c:pt idx="12">
                  <c:v>Mining</c:v>
                </c:pt>
                <c:pt idx="13">
                  <c:v>Not stated</c:v>
                </c:pt>
                <c:pt idx="14">
                  <c:v>Other Services</c:v>
                </c:pt>
                <c:pt idx="15">
                  <c:v>Professional, Scientific and Technical Services</c:v>
                </c:pt>
                <c:pt idx="16">
                  <c:v>Public Administration and Safety</c:v>
                </c:pt>
                <c:pt idx="17">
                  <c:v>Rental, Hiring and Real Estate Services</c:v>
                </c:pt>
                <c:pt idx="18">
                  <c:v>Retail Trade</c:v>
                </c:pt>
                <c:pt idx="19">
                  <c:v>Transport, Postal and Warehousing</c:v>
                </c:pt>
                <c:pt idx="20">
                  <c:v>Wholesale Trade</c:v>
                </c:pt>
              </c:strCache>
            </c:strRef>
          </c:cat>
          <c:val>
            <c:numRef>
              <c:f>'[8]Industry Employment (AUS)'!$B$2:$B$22</c:f>
              <c:numCache>
                <c:formatCode>General</c:formatCode>
                <c:ptCount val="21"/>
                <c:pt idx="0">
                  <c:v>424891</c:v>
                </c:pt>
                <c:pt idx="1">
                  <c:v>201179</c:v>
                </c:pt>
                <c:pt idx="2">
                  <c:v>90651</c:v>
                </c:pt>
                <c:pt idx="3">
                  <c:v>93826</c:v>
                </c:pt>
                <c:pt idx="4">
                  <c:v>156968</c:v>
                </c:pt>
                <c:pt idx="5">
                  <c:v>770920</c:v>
                </c:pt>
                <c:pt idx="6">
                  <c:v>34567</c:v>
                </c:pt>
                <c:pt idx="7">
                  <c:v>225280</c:v>
                </c:pt>
                <c:pt idx="8">
                  <c:v>1361188</c:v>
                </c:pt>
                <c:pt idx="9">
                  <c:v>138630</c:v>
                </c:pt>
                <c:pt idx="10">
                  <c:v>66291</c:v>
                </c:pt>
                <c:pt idx="11">
                  <c:v>211021</c:v>
                </c:pt>
                <c:pt idx="12">
                  <c:v>40064</c:v>
                </c:pt>
                <c:pt idx="13">
                  <c:v>67826</c:v>
                </c:pt>
                <c:pt idx="14">
                  <c:v>207598</c:v>
                </c:pt>
                <c:pt idx="15">
                  <c:v>429767</c:v>
                </c:pt>
                <c:pt idx="16">
                  <c:v>377933</c:v>
                </c:pt>
                <c:pt idx="17">
                  <c:v>96089</c:v>
                </c:pt>
                <c:pt idx="18">
                  <c:v>618571</c:v>
                </c:pt>
                <c:pt idx="19">
                  <c:v>128926</c:v>
                </c:pt>
                <c:pt idx="20">
                  <c:v>107022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D6-7B43-BA57-E001238E80F8}"/>
            </c:ext>
          </c:extLst>
        </c:ser>
        <c:ser>
          <c:idx val="1"/>
          <c:order val="1"/>
          <c:tx>
            <c:strRef>
              <c:f>'[8]Industry Employment (AUS)'!$C$1</c:f>
              <c:strCache>
                <c:ptCount val="1"/>
                <c:pt idx="0">
                  <c:v>Male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'[8]Industry Employment (AUS)'!$A$2:$A$22</c:f>
              <c:strCache>
                <c:ptCount val="21"/>
                <c:pt idx="0">
                  <c:v>Accommodation and Food Services</c:v>
                </c:pt>
                <c:pt idx="1">
                  <c:v>Administrative and Support Services</c:v>
                </c:pt>
                <c:pt idx="2">
                  <c:v>Agriculture, Forestry and Fishing</c:v>
                </c:pt>
                <c:pt idx="3">
                  <c:v>Arts and Recreation Services</c:v>
                </c:pt>
                <c:pt idx="4">
                  <c:v>Construction</c:v>
                </c:pt>
                <c:pt idx="5">
                  <c:v>Education and Training</c:v>
                </c:pt>
                <c:pt idx="6">
                  <c:v>Electricity, Gas, Water and Waste Services</c:v>
                </c:pt>
                <c:pt idx="7">
                  <c:v>Financial and Insurance Services</c:v>
                </c:pt>
                <c:pt idx="8">
                  <c:v>Health Care and Social Assistance</c:v>
                </c:pt>
                <c:pt idx="9">
                  <c:v>Inadequately described</c:v>
                </c:pt>
                <c:pt idx="10">
                  <c:v>Information Media and Telecommunications</c:v>
                </c:pt>
                <c:pt idx="11">
                  <c:v>Manufacturing</c:v>
                </c:pt>
                <c:pt idx="12">
                  <c:v>Mining</c:v>
                </c:pt>
                <c:pt idx="13">
                  <c:v>Not stated</c:v>
                </c:pt>
                <c:pt idx="14">
                  <c:v>Other Services</c:v>
                </c:pt>
                <c:pt idx="15">
                  <c:v>Professional, Scientific and Technical Services</c:v>
                </c:pt>
                <c:pt idx="16">
                  <c:v>Public Administration and Safety</c:v>
                </c:pt>
                <c:pt idx="17">
                  <c:v>Rental, Hiring and Real Estate Services</c:v>
                </c:pt>
                <c:pt idx="18">
                  <c:v>Retail Trade</c:v>
                </c:pt>
                <c:pt idx="19">
                  <c:v>Transport, Postal and Warehousing</c:v>
                </c:pt>
                <c:pt idx="20">
                  <c:v>Wholesale Trade</c:v>
                </c:pt>
              </c:strCache>
            </c:strRef>
          </c:cat>
          <c:val>
            <c:numRef>
              <c:f>'[8]Industry Employment (AUS)'!$C$2:$C$22</c:f>
              <c:numCache>
                <c:formatCode>General</c:formatCode>
                <c:ptCount val="21"/>
                <c:pt idx="0">
                  <c:v>358848</c:v>
                </c:pt>
                <c:pt idx="1">
                  <c:v>187252</c:v>
                </c:pt>
                <c:pt idx="2">
                  <c:v>191574</c:v>
                </c:pt>
                <c:pt idx="3">
                  <c:v>94655</c:v>
                </c:pt>
                <c:pt idx="4">
                  <c:v>910676</c:v>
                </c:pt>
                <c:pt idx="5">
                  <c:v>290405</c:v>
                </c:pt>
                <c:pt idx="6">
                  <c:v>99798</c:v>
                </c:pt>
                <c:pt idx="7">
                  <c:v>219849</c:v>
                </c:pt>
                <c:pt idx="8">
                  <c:v>390529</c:v>
                </c:pt>
                <c:pt idx="9">
                  <c:v>231303</c:v>
                </c:pt>
                <c:pt idx="10">
                  <c:v>100578</c:v>
                </c:pt>
                <c:pt idx="11">
                  <c:v>503739</c:v>
                </c:pt>
                <c:pt idx="12">
                  <c:v>174695</c:v>
                </c:pt>
                <c:pt idx="13">
                  <c:v>89169</c:v>
                </c:pt>
                <c:pt idx="14">
                  <c:v>227859</c:v>
                </c:pt>
                <c:pt idx="15">
                  <c:v>515326</c:v>
                </c:pt>
                <c:pt idx="16">
                  <c:v>419100</c:v>
                </c:pt>
                <c:pt idx="17">
                  <c:v>91528</c:v>
                </c:pt>
                <c:pt idx="18">
                  <c:v>481042</c:v>
                </c:pt>
                <c:pt idx="19">
                  <c:v>417438</c:v>
                </c:pt>
                <c:pt idx="20">
                  <c:v>204844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D6-7B43-BA57-E001238E8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Industry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Occupation by Gender (Australia)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'[9]Occupation by Gender (AUS)'!$B$1</c:f>
              <c:strCache>
                <c:ptCount val="1"/>
                <c:pt idx="0">
                  <c:v>Female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'[9]Occupation by Gender (AUS)'!$A$2:$A$11</c:f>
              <c:strCache>
                <c:ptCount val="10"/>
                <c:pt idx="0">
                  <c:v>Clerical and Administrative Workers</c:v>
                </c:pt>
                <c:pt idx="1">
                  <c:v>Community and Personal Service Workers</c:v>
                </c:pt>
                <c:pt idx="2">
                  <c:v>Inadequately described</c:v>
                </c:pt>
                <c:pt idx="3">
                  <c:v>Labourers</c:v>
                </c:pt>
                <c:pt idx="4">
                  <c:v>Machinery Operators and Drivers</c:v>
                </c:pt>
                <c:pt idx="5">
                  <c:v>Managers</c:v>
                </c:pt>
                <c:pt idx="6">
                  <c:v>Not stated</c:v>
                </c:pt>
                <c:pt idx="7">
                  <c:v>Professionals</c:v>
                </c:pt>
                <c:pt idx="8">
                  <c:v>Sales Workers</c:v>
                </c:pt>
                <c:pt idx="9">
                  <c:v>Technicians and Trades Workers</c:v>
                </c:pt>
              </c:strCache>
            </c:strRef>
          </c:cat>
          <c:val>
            <c:numRef>
              <c:f>'[9]Occupation by Gender (AUS)'!$B$2:$B$11</c:f>
              <c:numCache>
                <c:formatCode>General</c:formatCode>
                <c:ptCount val="10"/>
                <c:pt idx="0">
                  <c:v>1146583</c:v>
                </c:pt>
                <c:pt idx="1">
                  <c:v>983392</c:v>
                </c:pt>
                <c:pt idx="2">
                  <c:v>53786</c:v>
                </c:pt>
                <c:pt idx="3">
                  <c:v>393802</c:v>
                </c:pt>
                <c:pt idx="4">
                  <c:v>94383</c:v>
                </c:pt>
                <c:pt idx="5">
                  <c:v>652412</c:v>
                </c:pt>
                <c:pt idx="6">
                  <c:v>40864</c:v>
                </c:pt>
                <c:pt idx="7">
                  <c:v>1624951</c:v>
                </c:pt>
                <c:pt idx="8">
                  <c:v>599519</c:v>
                </c:pt>
                <c:pt idx="9">
                  <c:v>259507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D7-FA46-88E3-5C562A97CF81}"/>
            </c:ext>
          </c:extLst>
        </c:ser>
        <c:ser>
          <c:idx val="1"/>
          <c:order val="1"/>
          <c:tx>
            <c:strRef>
              <c:f>'[9]Occupation by Gender (AUS)'!$C$1</c:f>
              <c:strCache>
                <c:ptCount val="1"/>
                <c:pt idx="0">
                  <c:v>Male</c:v>
                </c:pt>
              </c:strCache>
            </c:strRef>
          </c:tx>
          <c:spPr>
            <a:ln>
              <a:prstDash val="solid"/>
            </a:ln>
          </c:spPr>
          <c:invertIfNegative val="0"/>
          <c:cat>
            <c:strRef>
              <c:f>'[9]Occupation by Gender (AUS)'!$A$2:$A$11</c:f>
              <c:strCache>
                <c:ptCount val="10"/>
                <c:pt idx="0">
                  <c:v>Clerical and Administrative Workers</c:v>
                </c:pt>
                <c:pt idx="1">
                  <c:v>Community and Personal Service Workers</c:v>
                </c:pt>
                <c:pt idx="2">
                  <c:v>Inadequately described</c:v>
                </c:pt>
                <c:pt idx="3">
                  <c:v>Labourers</c:v>
                </c:pt>
                <c:pt idx="4">
                  <c:v>Machinery Operators and Drivers</c:v>
                </c:pt>
                <c:pt idx="5">
                  <c:v>Managers</c:v>
                </c:pt>
                <c:pt idx="6">
                  <c:v>Not stated</c:v>
                </c:pt>
                <c:pt idx="7">
                  <c:v>Professionals</c:v>
                </c:pt>
                <c:pt idx="8">
                  <c:v>Sales Workers</c:v>
                </c:pt>
                <c:pt idx="9">
                  <c:v>Technicians and Trades Workers</c:v>
                </c:pt>
              </c:strCache>
            </c:strRef>
          </c:cat>
          <c:val>
            <c:numRef>
              <c:f>'[9]Occupation by Gender (AUS)'!$C$2:$C$11</c:f>
              <c:numCache>
                <c:formatCode>General</c:formatCode>
                <c:ptCount val="10"/>
                <c:pt idx="0">
                  <c:v>378733</c:v>
                </c:pt>
                <c:pt idx="1">
                  <c:v>398812</c:v>
                </c:pt>
                <c:pt idx="2">
                  <c:v>80028</c:v>
                </c:pt>
                <c:pt idx="3">
                  <c:v>692324</c:v>
                </c:pt>
                <c:pt idx="4">
                  <c:v>661478</c:v>
                </c:pt>
                <c:pt idx="5">
                  <c:v>993353</c:v>
                </c:pt>
                <c:pt idx="6">
                  <c:v>51798</c:v>
                </c:pt>
                <c:pt idx="7">
                  <c:v>1261968</c:v>
                </c:pt>
                <c:pt idx="8">
                  <c:v>386919</c:v>
                </c:pt>
                <c:pt idx="9">
                  <c:v>1294807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D7-FA46-88E3-5C562A97C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Occupation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People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F0B36-6FAE-5648-82D6-49412A9F7A4E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46986-36DE-D24C-9294-28E255498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6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46986-36DE-D24C-9294-28E2554984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s.gov.au/statistics/labour/earnings-and-working-conditions/income-and-work-census/2021#data-downloa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Australian Income &amp; Employment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2021 Census |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Source: Australian Bureau of Statistics (ABS) 2021 Census</a:t>
            </a:r>
            <a:r>
              <a:rPr lang="en-US" sz="1600" dirty="0"/>
              <a:t>(</a:t>
            </a:r>
            <a:r>
              <a:rPr lang="en-US" sz="1600" dirty="0">
                <a:hlinkClick r:id="rId2"/>
              </a:rPr>
              <a:t>https://www.abs.gov.au/statistics/labour/earnings-and-working-conditions/income-and-work-census/2021#data-downloads</a:t>
            </a:r>
            <a:r>
              <a:rPr lang="en-US" sz="1600" dirty="0"/>
              <a:t>)</a:t>
            </a:r>
            <a:endParaRPr sz="1600" dirty="0"/>
          </a:p>
          <a:p>
            <a:r>
              <a:rPr sz="1600" dirty="0"/>
              <a:t>Focus areas: Income distribution, employment status, industry &amp; occupation by demographic variables</a:t>
            </a:r>
          </a:p>
          <a:p>
            <a:r>
              <a:rPr sz="1600" dirty="0"/>
              <a:t>Includes age, gender, state/territory, household type, and country of birth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Data cleaning and structuring using Excel</a:t>
            </a:r>
          </a:p>
          <a:p>
            <a:r>
              <a:rPr sz="1600" dirty="0"/>
              <a:t>Pivot tables, formulas (`SUM`, `AVERAGE`, `IF`, `INDEX MATCH`)</a:t>
            </a:r>
          </a:p>
          <a:p>
            <a:r>
              <a:rPr sz="1600" dirty="0"/>
              <a:t>Visualizations: histograms, bar charts, line charts</a:t>
            </a:r>
          </a:p>
          <a:p>
            <a:r>
              <a:rPr sz="1600" dirty="0"/>
              <a:t>Summary statistics and employment trends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Income Distribution by Age &amp;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Young individuals (15–24) are concentrated in lower income brackets (&lt;$400/week)</a:t>
            </a:r>
          </a:p>
          <a:p>
            <a:r>
              <a:rPr sz="1600" dirty="0"/>
              <a:t>Income increases with age, peaking in 45–54 years</a:t>
            </a:r>
          </a:p>
          <a:p>
            <a:r>
              <a:rPr sz="1600" dirty="0"/>
              <a:t>After 65, income drops significantly, indicating reliance on pensions</a:t>
            </a:r>
          </a:p>
          <a:p>
            <a:r>
              <a:rPr sz="1600" dirty="0"/>
              <a:t>Gender gap exists: females underrepresented in higher income ranges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C9487AE-9944-4647-AD68-DF3753170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1716564"/>
              </p:ext>
            </p:extLst>
          </p:nvPr>
        </p:nvGraphicFramePr>
        <p:xfrm>
          <a:off x="758902" y="2849563"/>
          <a:ext cx="67564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Household vs Family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Family households dominate mid-to-high income brackets</a:t>
            </a:r>
          </a:p>
          <a:p>
            <a:r>
              <a:rPr sz="1600" dirty="0"/>
              <a:t>Non-family households are concentrated in lower income categories</a:t>
            </a:r>
          </a:p>
          <a:p>
            <a:r>
              <a:rPr sz="1600" dirty="0"/>
              <a:t>This reflects dual-income advantage in family units</a:t>
            </a:r>
          </a:p>
          <a:p>
            <a:r>
              <a:rPr sz="1600" dirty="0"/>
              <a:t>Policy implication: rental subsidies or support for single/non-family households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BE66540-AFC5-5048-B464-637695241A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482940"/>
              </p:ext>
            </p:extLst>
          </p:nvPr>
        </p:nvGraphicFramePr>
        <p:xfrm>
          <a:off x="1047911" y="307242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Family Income by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'Couple with children' families most likely to be in higher income bins</a:t>
            </a:r>
          </a:p>
          <a:p>
            <a:r>
              <a:rPr sz="1600" dirty="0"/>
              <a:t>'One parent' and 'Other' families show wider spread and lower incomes</a:t>
            </a:r>
          </a:p>
          <a:p>
            <a:r>
              <a:rPr sz="1600" dirty="0"/>
              <a:t>Highlights structural income inequality across family types</a:t>
            </a:r>
          </a:p>
          <a:p>
            <a:r>
              <a:rPr sz="1600" dirty="0"/>
              <a:t>Suggests need for targeted financial assistance to single-parent households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FA98-BEED-FAB7-59DA-317255BA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Family Income by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CC3EFC-6158-5746-BE08-083EBA5279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94582"/>
              </p:ext>
            </p:extLst>
          </p:nvPr>
        </p:nvGraphicFramePr>
        <p:xfrm>
          <a:off x="1875800" y="1182512"/>
          <a:ext cx="5017911" cy="2746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5C2DDCA-534F-E147-AD3E-B928577FC7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699017"/>
              </p:ext>
            </p:extLst>
          </p:nvPr>
        </p:nvGraphicFramePr>
        <p:xfrm>
          <a:off x="2007467" y="3928533"/>
          <a:ext cx="4754578" cy="2425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48442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29F2-ADAA-2FE4-EF9E-498086CE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Family Income by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AD9A15-9507-9F0F-526C-D46EFFEEE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366357"/>
              </p:ext>
            </p:extLst>
          </p:nvPr>
        </p:nvGraphicFramePr>
        <p:xfrm>
          <a:off x="1665111" y="1250245"/>
          <a:ext cx="5514622" cy="2396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6DF8940-0785-E34F-A033-2D192E43C1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711837"/>
              </p:ext>
            </p:extLst>
          </p:nvPr>
        </p:nvGraphicFramePr>
        <p:xfrm>
          <a:off x="1431732" y="388336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7320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Employment Trends by Age and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Highest employment rates in 25–54 years</a:t>
            </a:r>
          </a:p>
          <a:p>
            <a:r>
              <a:rPr sz="1600" dirty="0"/>
              <a:t>Male employment remains higher historically, though female employment has improved significantly since 1971</a:t>
            </a:r>
          </a:p>
          <a:p>
            <a:r>
              <a:rPr sz="1600" dirty="0"/>
              <a:t>Youth and elderly face lower employment proportions</a:t>
            </a:r>
          </a:p>
          <a:p>
            <a:r>
              <a:rPr sz="1600" dirty="0"/>
              <a:t>Programs needed for both entry-level and retirement-age populations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D70B-6E03-A5FB-7557-917D5FC4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Employment Trends by Age and Gender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F202F2-93C5-22A5-567D-B5993F798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886537"/>
              </p:ext>
            </p:extLst>
          </p:nvPr>
        </p:nvGraphicFramePr>
        <p:xfrm>
          <a:off x="457201" y="1600201"/>
          <a:ext cx="796431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12B690F-6624-0842-A71A-D98BFFD27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1355190"/>
              </p:ext>
            </p:extLst>
          </p:nvPr>
        </p:nvGraphicFramePr>
        <p:xfrm>
          <a:off x="457200" y="4135517"/>
          <a:ext cx="7817555" cy="2447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339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</a:t>
            </a:r>
            <a:r>
              <a:rPr dirty="0" err="1"/>
              <a:t>Labour</a:t>
            </a:r>
            <a:r>
              <a:rPr dirty="0"/>
              <a:t> Force by State &amp;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NSW and VIC lead in full-time employment counts</a:t>
            </a:r>
          </a:p>
          <a:p>
            <a:r>
              <a:rPr sz="1600" dirty="0"/>
              <a:t>Females more likely to be in part-time roles across all states</a:t>
            </a:r>
          </a:p>
          <a:p>
            <a:r>
              <a:rPr sz="1600" dirty="0"/>
              <a:t>Imbalance between male and female full-time work persists</a:t>
            </a:r>
          </a:p>
          <a:p>
            <a:r>
              <a:rPr sz="1600" dirty="0"/>
              <a:t>Recommend incentives for flexible full-time roles and childcare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7E94-F3F1-FEA6-6C01-53D811D3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Labour</a:t>
            </a:r>
            <a:r>
              <a:rPr lang="en-US" dirty="0"/>
              <a:t> Force by State &amp; Gender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0E07BD-ED32-6F7A-67D6-F2287CB985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845146"/>
              </p:ext>
            </p:extLst>
          </p:nvPr>
        </p:nvGraphicFramePr>
        <p:xfrm>
          <a:off x="728133" y="1417638"/>
          <a:ext cx="6993467" cy="2396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3D501C1-7BA9-F746-8AF8-FB1D0E573D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6387142"/>
              </p:ext>
            </p:extLst>
          </p:nvPr>
        </p:nvGraphicFramePr>
        <p:xfrm>
          <a:off x="819310" y="3813704"/>
          <a:ext cx="6811111" cy="2396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023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</a:t>
            </a:r>
            <a:r>
              <a:rPr dirty="0" err="1"/>
              <a:t>Labour</a:t>
            </a:r>
            <a:r>
              <a:rPr dirty="0"/>
              <a:t> Force Status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Australian-born dominate the </a:t>
            </a:r>
            <a:r>
              <a:rPr sz="1600" dirty="0" err="1"/>
              <a:t>labour</a:t>
            </a:r>
            <a:r>
              <a:rPr sz="1600" dirty="0"/>
              <a:t> force</a:t>
            </a:r>
          </a:p>
          <a:p>
            <a:r>
              <a:rPr sz="1600" dirty="0"/>
              <a:t>Some migrant groups show lower participation and higher 'Not in </a:t>
            </a:r>
            <a:r>
              <a:rPr sz="1600" dirty="0" err="1"/>
              <a:t>labour</a:t>
            </a:r>
            <a:r>
              <a:rPr sz="1600" dirty="0"/>
              <a:t> force' rates</a:t>
            </a:r>
          </a:p>
          <a:p>
            <a:r>
              <a:rPr sz="1600" dirty="0"/>
              <a:t>Points to barriers in skill recognition or employment access</a:t>
            </a:r>
          </a:p>
          <a:p>
            <a:r>
              <a:rPr sz="1600" dirty="0"/>
              <a:t>Recommendation: Upskilling, language training, and migration employment services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CD8938-13A4-D64A-8477-0CECD675BF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951125"/>
              </p:ext>
            </p:extLst>
          </p:nvPr>
        </p:nvGraphicFramePr>
        <p:xfrm>
          <a:off x="1093067" y="3121363"/>
          <a:ext cx="5400000" cy="300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7. Industry Employment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Males dominate in construction, mining, and technical industries</a:t>
            </a:r>
          </a:p>
          <a:p>
            <a:r>
              <a:rPr sz="1600" dirty="0"/>
              <a:t>Females lead in healthcare, education, and clerical sectors</a:t>
            </a:r>
          </a:p>
          <a:p>
            <a:r>
              <a:rPr sz="1600" dirty="0"/>
              <a:t>Gender-segregated workforce persists</a:t>
            </a:r>
          </a:p>
          <a:p>
            <a:r>
              <a:rPr sz="1600" dirty="0"/>
              <a:t>Recommend STEM outreach for women and care-sector training for men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45C54E4-892B-B247-9DD2-42DCA5291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965344"/>
              </p:ext>
            </p:extLst>
          </p:nvPr>
        </p:nvGraphicFramePr>
        <p:xfrm>
          <a:off x="1036623" y="314015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Occupation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Males more represented in managerial and trade roles</a:t>
            </a:r>
          </a:p>
          <a:p>
            <a:r>
              <a:rPr sz="1600" dirty="0"/>
              <a:t>Females dominate in service, admin, and clerical roles</a:t>
            </a:r>
          </a:p>
          <a:p>
            <a:r>
              <a:rPr sz="1600" dirty="0"/>
              <a:t>Consistent with traditional occupational gender roles</a:t>
            </a:r>
          </a:p>
          <a:p>
            <a:r>
              <a:rPr sz="1600" dirty="0"/>
              <a:t>Suggest promotion of leadership and technical pathways for women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7231267-A4EC-5D43-A769-9B9CF6BBF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961118"/>
              </p:ext>
            </p:extLst>
          </p:nvPr>
        </p:nvGraphicFramePr>
        <p:xfrm>
          <a:off x="968888" y="3230467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Strengthen youth and senior employment policies</a:t>
            </a:r>
          </a:p>
          <a:p>
            <a:r>
              <a:rPr sz="1600" dirty="0"/>
              <a:t>Address gender gaps in full-time work and high-paying sectors</a:t>
            </a:r>
          </a:p>
          <a:p>
            <a:r>
              <a:rPr sz="1600" dirty="0"/>
              <a:t>Support single-parent and non-traditional households with financial aid</a:t>
            </a:r>
          </a:p>
          <a:p>
            <a:r>
              <a:rPr sz="1600" dirty="0"/>
              <a:t>Enhance migrant integration into workforce via upskilling programs</a:t>
            </a:r>
          </a:p>
          <a:p>
            <a:r>
              <a:rPr sz="1600" dirty="0"/>
              <a:t>Use education incentives to balance occupational gender disparities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2F740-5799-EBC7-EA92-312BD02C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/>
              <a:t>Thank You !!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0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681</Words>
  <Application>Microsoft Macintosh PowerPoint</Application>
  <PresentationFormat>On-screen Show (4:3)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Australian Income &amp; Employment Insights</vt:lpstr>
      <vt:lpstr>Dataset Overview</vt:lpstr>
      <vt:lpstr>Analysis Performed</vt:lpstr>
      <vt:lpstr>1. Income Distribution by Age &amp; Gender</vt:lpstr>
      <vt:lpstr>2. Household vs Family Income</vt:lpstr>
      <vt:lpstr>3. Family Income by Structure</vt:lpstr>
      <vt:lpstr>3. Family Income by Structure</vt:lpstr>
      <vt:lpstr>3. Family Income by Structure</vt:lpstr>
      <vt:lpstr>4. Employment Trends by Age and Gender</vt:lpstr>
      <vt:lpstr>4. Employment Trends by Age and Gender</vt:lpstr>
      <vt:lpstr>5. Labour Force by State &amp; Gender</vt:lpstr>
      <vt:lpstr>5. Labour Force by State &amp; Gender</vt:lpstr>
      <vt:lpstr>6. Labour Force Status by Country</vt:lpstr>
      <vt:lpstr>7. Industry Employment by Gender</vt:lpstr>
      <vt:lpstr>8. Occupation by Gender</vt:lpstr>
      <vt:lpstr>Conclusion &amp; 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Shivani Mandora</cp:lastModifiedBy>
  <cp:revision>17</cp:revision>
  <dcterms:created xsi:type="dcterms:W3CDTF">2013-01-27T09:14:16Z</dcterms:created>
  <dcterms:modified xsi:type="dcterms:W3CDTF">2025-10-17T22:03:50Z</dcterms:modified>
  <cp:category/>
</cp:coreProperties>
</file>